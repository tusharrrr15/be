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5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6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B6C7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B6C7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B6C7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B6C7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8200" y="1076440"/>
            <a:ext cx="2129790" cy="150495"/>
          </a:xfrm>
          <a:custGeom>
            <a:avLst/>
            <a:gdLst/>
            <a:ahLst/>
            <a:cxnLst/>
            <a:rect l="l" t="t" r="r" b="b"/>
            <a:pathLst>
              <a:path w="2129790" h="150494">
                <a:moveTo>
                  <a:pt x="2054505" y="150470"/>
                </a:moveTo>
                <a:lnTo>
                  <a:pt x="75235" y="150470"/>
                </a:lnTo>
                <a:lnTo>
                  <a:pt x="45950" y="144558"/>
                </a:lnTo>
                <a:lnTo>
                  <a:pt x="22035" y="128435"/>
                </a:lnTo>
                <a:lnTo>
                  <a:pt x="5912" y="104520"/>
                </a:lnTo>
                <a:lnTo>
                  <a:pt x="0" y="75235"/>
                </a:lnTo>
                <a:lnTo>
                  <a:pt x="5812" y="46444"/>
                </a:lnTo>
                <a:lnTo>
                  <a:pt x="5912" y="45950"/>
                </a:lnTo>
                <a:lnTo>
                  <a:pt x="22035" y="22035"/>
                </a:lnTo>
                <a:lnTo>
                  <a:pt x="45950" y="5912"/>
                </a:lnTo>
                <a:lnTo>
                  <a:pt x="75235" y="0"/>
                </a:lnTo>
                <a:lnTo>
                  <a:pt x="2054505" y="0"/>
                </a:lnTo>
                <a:lnTo>
                  <a:pt x="2096246" y="12640"/>
                </a:lnTo>
                <a:lnTo>
                  <a:pt x="2124014" y="46444"/>
                </a:lnTo>
                <a:lnTo>
                  <a:pt x="2129740" y="75235"/>
                </a:lnTo>
                <a:lnTo>
                  <a:pt x="2123828" y="104520"/>
                </a:lnTo>
                <a:lnTo>
                  <a:pt x="2107704" y="128435"/>
                </a:lnTo>
                <a:lnTo>
                  <a:pt x="2083790" y="144558"/>
                </a:lnTo>
                <a:lnTo>
                  <a:pt x="2054505" y="150470"/>
                </a:lnTo>
                <a:close/>
              </a:path>
            </a:pathLst>
          </a:custGeom>
          <a:solidFill>
            <a:srgbClr val="B22B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9600" y="6721475"/>
            <a:ext cx="10972800" cy="136525"/>
          </a:xfrm>
          <a:custGeom>
            <a:avLst/>
            <a:gdLst/>
            <a:ahLst/>
            <a:cxnLst/>
            <a:rect l="l" t="t" r="r" b="b"/>
            <a:pathLst>
              <a:path w="10972800" h="136525">
                <a:moveTo>
                  <a:pt x="10972799" y="136525"/>
                </a:moveTo>
                <a:lnTo>
                  <a:pt x="0" y="136525"/>
                </a:lnTo>
                <a:lnTo>
                  <a:pt x="0" y="0"/>
                </a:lnTo>
                <a:lnTo>
                  <a:pt x="10972799" y="0"/>
                </a:lnTo>
                <a:lnTo>
                  <a:pt x="10972799" y="136525"/>
                </a:lnTo>
                <a:close/>
              </a:path>
            </a:pathLst>
          </a:custGeom>
          <a:solidFill>
            <a:srgbClr val="D1A5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09600" y="6217920"/>
            <a:ext cx="10972800" cy="0"/>
          </a:xfrm>
          <a:custGeom>
            <a:avLst/>
            <a:gdLst/>
            <a:ahLst/>
            <a:cxnLst/>
            <a:rect l="l" t="t" r="r" b="b"/>
            <a:pathLst>
              <a:path w="10972800">
                <a:moveTo>
                  <a:pt x="0" y="0"/>
                </a:moveTo>
                <a:lnTo>
                  <a:pt x="10972799" y="0"/>
                </a:lnTo>
              </a:path>
            </a:pathLst>
          </a:custGeom>
          <a:ln w="9524">
            <a:solidFill>
              <a:srgbClr val="B22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8599" y="319501"/>
            <a:ext cx="6228089" cy="636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B6C7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7550" y="1917648"/>
            <a:ext cx="9498330" cy="2585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3855" y="2047423"/>
            <a:ext cx="71037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000" b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r>
              <a:rPr sz="2000" b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064385" cy="6858000"/>
            <a:chOff x="0" y="0"/>
            <a:chExt cx="2064385" cy="6858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699770" cy="6858000"/>
            </a:xfrm>
            <a:custGeom>
              <a:avLst/>
              <a:gdLst/>
              <a:ahLst/>
              <a:cxnLst/>
              <a:rect l="l" t="t" r="r" b="b"/>
              <a:pathLst>
                <a:path w="699770" h="6858000">
                  <a:moveTo>
                    <a:pt x="69928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699289" y="0"/>
                  </a:lnTo>
                  <a:lnTo>
                    <a:pt x="699289" y="6857999"/>
                  </a:lnTo>
                  <a:close/>
                </a:path>
              </a:pathLst>
            </a:custGeom>
            <a:solidFill>
              <a:srgbClr val="B22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9289" y="0"/>
              <a:ext cx="666115" cy="6858000"/>
            </a:xfrm>
            <a:custGeom>
              <a:avLst/>
              <a:gdLst/>
              <a:ahLst/>
              <a:cxnLst/>
              <a:rect l="l" t="t" r="r" b="b"/>
              <a:pathLst>
                <a:path w="666115" h="6858000">
                  <a:moveTo>
                    <a:pt x="0" y="6857999"/>
                  </a:moveTo>
                  <a:lnTo>
                    <a:pt x="665560" y="6857999"/>
                  </a:lnTo>
                  <a:lnTo>
                    <a:pt x="665560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D1A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4850" y="0"/>
              <a:ext cx="699770" cy="6858000"/>
            </a:xfrm>
            <a:custGeom>
              <a:avLst/>
              <a:gdLst/>
              <a:ahLst/>
              <a:cxnLst/>
              <a:rect l="l" t="t" r="r" b="b"/>
              <a:pathLst>
                <a:path w="699769" h="6858000">
                  <a:moveTo>
                    <a:pt x="69928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699289" y="0"/>
                  </a:lnTo>
                  <a:lnTo>
                    <a:pt x="699289" y="6857999"/>
                  </a:lnTo>
                  <a:close/>
                </a:path>
              </a:pathLst>
            </a:custGeom>
            <a:solidFill>
              <a:srgbClr val="6B6C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138252" y="3178140"/>
            <a:ext cx="19291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sz="2000" spc="-2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6800" y="3482940"/>
            <a:ext cx="2340337" cy="1467709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280035" marR="5080" indent="-280035" algn="l">
              <a:lnSpc>
                <a:spcPct val="100000"/>
              </a:lnSpc>
              <a:spcBef>
                <a:spcPts val="545"/>
              </a:spcBef>
              <a:buAutoNum type="arabicPeriod"/>
              <a:tabLst>
                <a:tab pos="280035" algn="l"/>
              </a:tabLst>
            </a:pPr>
            <a:r>
              <a:rPr lang="en-IN"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Tushar Chavhan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0035" marR="71120" indent="-280035" algn="l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280035" algn="l"/>
              </a:tabLst>
            </a:pPr>
            <a:r>
              <a:rPr lang="en-IN"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Sakshi Ingale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0035" marR="68580" indent="-280035" algn="l">
              <a:lnSpc>
                <a:spcPct val="100000"/>
              </a:lnSpc>
              <a:spcBef>
                <a:spcPts val="445"/>
              </a:spcBef>
              <a:buAutoNum type="arabicPeriod"/>
              <a:tabLst>
                <a:tab pos="280035" algn="l"/>
              </a:tabLst>
            </a:pPr>
            <a:r>
              <a:rPr lang="en-IN"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Vrushali Dhage</a:t>
            </a:r>
          </a:p>
          <a:p>
            <a:pPr marL="280035" marR="68580" indent="-280035" algn="l">
              <a:lnSpc>
                <a:spcPct val="100000"/>
              </a:lnSpc>
              <a:spcBef>
                <a:spcPts val="445"/>
              </a:spcBef>
              <a:buAutoNum type="arabicPeriod"/>
              <a:tabLst>
                <a:tab pos="280035" algn="l"/>
              </a:tabLst>
            </a:pPr>
            <a:r>
              <a:rPr lang="en-IN"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Snehal </a:t>
            </a:r>
            <a:r>
              <a:rPr lang="en-IN" sz="2000" dirty="0" err="1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Godage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82540" y="3482940"/>
            <a:ext cx="1846294" cy="14720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 marR="5080" indent="-238125" algn="ctr">
              <a:lnSpc>
                <a:spcPct val="118700"/>
              </a:lnSpc>
              <a:spcBef>
                <a:spcPts val="100"/>
              </a:spcBef>
            </a:pPr>
            <a:r>
              <a:rPr lang="en-IN"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sz="2000" spc="-5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</a:t>
            </a:r>
            <a:r>
              <a:rPr lang="en-IN" sz="2000" spc="-1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sz="2000" spc="-1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spc="-10" dirty="0">
              <a:solidFill>
                <a:srgbClr val="6B6C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0190" marR="5080" indent="-238125" algn="ctr">
              <a:lnSpc>
                <a:spcPct val="118700"/>
              </a:lnSpc>
              <a:spcBef>
                <a:spcPts val="100"/>
              </a:spcBef>
            </a:pP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sz="2000" spc="-5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</a:t>
            </a:r>
            <a:r>
              <a:rPr lang="en-IN" sz="2000" spc="-1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sz="2000" spc="-1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spc="-10" dirty="0">
              <a:solidFill>
                <a:srgbClr val="6B6C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0190" marR="5080" indent="-238125" algn="ctr">
              <a:lnSpc>
                <a:spcPct val="118700"/>
              </a:lnSpc>
              <a:spcBef>
                <a:spcPts val="100"/>
              </a:spcBef>
            </a:pP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sz="2000" spc="-5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IN" sz="2000" spc="-4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30</a:t>
            </a:r>
          </a:p>
          <a:p>
            <a:pPr marL="250190" marR="5080" indent="-238125" algn="ctr">
              <a:lnSpc>
                <a:spcPct val="118700"/>
              </a:lnSpc>
              <a:spcBef>
                <a:spcPts val="100"/>
              </a:spcBef>
            </a:pPr>
            <a:r>
              <a:rPr lang="en-IN" sz="2000" spc="-4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Roll No. 49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8528" y="5118100"/>
            <a:ext cx="560895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z="2000" spc="-8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4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Guidance</a:t>
            </a:r>
            <a:r>
              <a:rPr sz="2000" spc="-4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4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spc="-4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20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Sonam Singh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sz="2000" spc="-4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A.Y.2025-</a:t>
            </a:r>
            <a:r>
              <a:rPr sz="2000" spc="-25" dirty="0">
                <a:solidFill>
                  <a:srgbClr val="6B6C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28957" y="273417"/>
            <a:ext cx="8795385" cy="1666239"/>
            <a:chOff x="3028957" y="273417"/>
            <a:chExt cx="8795385" cy="1666239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8896" y="273417"/>
              <a:ext cx="8083813" cy="16657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28957" y="1855141"/>
              <a:ext cx="8795385" cy="0"/>
            </a:xfrm>
            <a:custGeom>
              <a:avLst/>
              <a:gdLst/>
              <a:ahLst/>
              <a:cxnLst/>
              <a:rect l="l" t="t" r="r" b="b"/>
              <a:pathLst>
                <a:path w="8795385">
                  <a:moveTo>
                    <a:pt x="0" y="0"/>
                  </a:moveTo>
                  <a:lnTo>
                    <a:pt x="8795061" y="0"/>
                  </a:lnTo>
                </a:path>
              </a:pathLst>
            </a:custGeom>
            <a:ln w="9524">
              <a:solidFill>
                <a:srgbClr val="6B6C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5666" y="6204362"/>
            <a:ext cx="3390273" cy="3488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554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2624" y="6346707"/>
            <a:ext cx="50323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888888"/>
                </a:solidFill>
                <a:latin typeface="Arial"/>
                <a:cs typeface="Arial"/>
              </a:rPr>
              <a:t>Dr.</a:t>
            </a:r>
            <a:r>
              <a:rPr sz="1100" spc="-6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D.</a:t>
            </a:r>
            <a:r>
              <a:rPr sz="1100" spc="-6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888888"/>
                </a:solidFill>
                <a:latin typeface="Arial"/>
                <a:cs typeface="Arial"/>
              </a:rPr>
              <a:t>Y.</a:t>
            </a:r>
            <a:r>
              <a:rPr sz="1100" spc="-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Patil</a:t>
            </a:r>
            <a:r>
              <a:rPr sz="1100" spc="-4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Institute</a:t>
            </a:r>
            <a:r>
              <a:rPr sz="1100" spc="-4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of</a:t>
            </a:r>
            <a:r>
              <a:rPr sz="1100" spc="-5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Technology</a:t>
            </a:r>
            <a:r>
              <a:rPr sz="1100" spc="229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|</a:t>
            </a:r>
            <a:r>
              <a:rPr sz="1100" spc="229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lang="en-IN" sz="1100" b="1" dirty="0">
                <a:solidFill>
                  <a:srgbClr val="888888"/>
                </a:solidFill>
                <a:latin typeface="Arial"/>
                <a:cs typeface="Arial"/>
              </a:rPr>
              <a:t>Artificial Intelligence and Data Science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0617" y="6357708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B6C71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938DB0-BD39-1085-88DF-A187BDCAB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4" y="1844694"/>
            <a:ext cx="781656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Rapid urbanization → increased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flooding &amp; waterlogging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drainage systems are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reactive, not predictive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latency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SCADA/cloud models → delayed responses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Vulnerable 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communication/network failures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A9792-898A-07A7-E3B7-6FEC34156008}"/>
              </a:ext>
            </a:extLst>
          </p:cNvPr>
          <p:cNvSpPr txBox="1"/>
          <p:nvPr/>
        </p:nvSpPr>
        <p:spPr>
          <a:xfrm>
            <a:off x="682624" y="3505201"/>
            <a:ext cx="10668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AI-powered, low-latency Edge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drainage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 water levels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 time using Deep Learning (LSTM)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gate &amp; pump actuation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Model Predictive Control (MPC)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early warnings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decision support, even without internet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Minimize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 risk &amp; emergency repair costs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599" y="319501"/>
            <a:ext cx="6228089" cy="519723"/>
          </a:xfrm>
          <a:prstGeom prst="rect">
            <a:avLst/>
          </a:prstGeom>
        </p:spPr>
        <p:txBody>
          <a:bodyPr vert="horz" wrap="square" lIns="0" tIns="148937" rIns="0" bIns="0" rtlCol="0">
            <a:spAutoFit/>
          </a:bodyPr>
          <a:lstStyle/>
          <a:p>
            <a:pPr marL="40513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0617" y="6357708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B6C71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DF7AE1-3C06-1880-5188-4EA45723E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828800"/>
            <a:ext cx="1029440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monitoring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rainfall, water levels, and 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Prediction of overflow risks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LSTM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Autonomous control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smart gates &amp; pumps through MPC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Edge-based deployment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low-latency decision-making (&lt;300ms)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Dashboard &amp; alert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authorities and citizens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2624" y="6346670"/>
            <a:ext cx="50323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888888"/>
                </a:solidFill>
                <a:latin typeface="Arial"/>
                <a:cs typeface="Arial"/>
              </a:rPr>
              <a:t>Dr.</a:t>
            </a:r>
            <a:r>
              <a:rPr sz="1100" spc="-6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D.</a:t>
            </a:r>
            <a:r>
              <a:rPr sz="1100" spc="-6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888888"/>
                </a:solidFill>
                <a:latin typeface="Arial"/>
                <a:cs typeface="Arial"/>
              </a:rPr>
              <a:t>Y.</a:t>
            </a:r>
            <a:r>
              <a:rPr sz="1100" spc="-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Patil</a:t>
            </a:r>
            <a:r>
              <a:rPr sz="1100" spc="-4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Institute</a:t>
            </a:r>
            <a:r>
              <a:rPr sz="1100" spc="-4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of</a:t>
            </a:r>
            <a:r>
              <a:rPr sz="1100" spc="-5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Technology</a:t>
            </a:r>
            <a:r>
              <a:rPr sz="1100" spc="229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|</a:t>
            </a:r>
            <a:r>
              <a:rPr sz="1100" spc="229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lang="en-IN" sz="1100" b="1" dirty="0">
                <a:solidFill>
                  <a:srgbClr val="888888"/>
                </a:solidFill>
                <a:latin typeface="Arial"/>
                <a:cs typeface="Arial"/>
              </a:rPr>
              <a:t>Artificial Intelligence and Data Science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0737" y="6357716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B6C71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3400" y="356938"/>
            <a:ext cx="622808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&amp; Limitations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FE599E-8C9C-2F3F-29F4-7E54A0D0C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839263"/>
              </p:ext>
            </p:extLst>
          </p:nvPr>
        </p:nvGraphicFramePr>
        <p:xfrm>
          <a:off x="1676400" y="1643380"/>
          <a:ext cx="8458200" cy="4147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100">
                  <a:extLst>
                    <a:ext uri="{9D8B030D-6E8A-4147-A177-3AD203B41FA5}">
                      <a16:colId xmlns:a16="http://schemas.microsoft.com/office/drawing/2014/main" val="3031457810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286381091"/>
                    </a:ext>
                  </a:extLst>
                </a:gridCol>
              </a:tblGrid>
              <a:tr h="430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8818558"/>
                  </a:ext>
                </a:extLst>
              </a:tr>
              <a:tr h="743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SCADA-based monitoring of drains &amp; pumps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latency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Cloud/SCADA response ~1.5–2.5s too slow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006540"/>
                  </a:ext>
                </a:extLst>
              </a:tr>
              <a:tr h="743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models (e.g., SWMM) for flood simulation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simulations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Computation takes hours, not real-time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787601"/>
                  </a:ext>
                </a:extLst>
              </a:tr>
              <a:tr h="743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Cloud-based dashboards for central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Reactive approach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Action only after flooding occurs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644365"/>
                  </a:ext>
                </a:extLst>
              </a:tr>
              <a:tr h="743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intervention by municipal staff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Reliability issues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Dependent on internet/communication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703835"/>
                  </a:ext>
                </a:extLst>
              </a:tr>
              <a:tr h="743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scalability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Expansion requires heavy infrastructure 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6615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2624" y="6346707"/>
            <a:ext cx="50323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888888"/>
                </a:solidFill>
                <a:latin typeface="Arial"/>
                <a:cs typeface="Arial"/>
              </a:rPr>
              <a:t>Dr.</a:t>
            </a:r>
            <a:r>
              <a:rPr sz="1100" spc="-6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D.</a:t>
            </a:r>
            <a:r>
              <a:rPr sz="1100" spc="-6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888888"/>
                </a:solidFill>
                <a:latin typeface="Arial"/>
                <a:cs typeface="Arial"/>
              </a:rPr>
              <a:t>Y.</a:t>
            </a:r>
            <a:r>
              <a:rPr sz="1100" spc="-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Patil</a:t>
            </a:r>
            <a:r>
              <a:rPr sz="1100" spc="-4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Institute</a:t>
            </a:r>
            <a:r>
              <a:rPr sz="1100" spc="-40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of</a:t>
            </a:r>
            <a:r>
              <a:rPr sz="1100" spc="-55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Technology</a:t>
            </a:r>
            <a:r>
              <a:rPr sz="1100" spc="229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888888"/>
                </a:solidFill>
                <a:latin typeface="Arial"/>
                <a:cs typeface="Arial"/>
              </a:rPr>
              <a:t>|</a:t>
            </a:r>
            <a:r>
              <a:rPr sz="1100" spc="229" dirty="0">
                <a:solidFill>
                  <a:srgbClr val="888888"/>
                </a:solidFill>
                <a:latin typeface="Arial"/>
                <a:cs typeface="Arial"/>
              </a:rPr>
              <a:t> </a:t>
            </a:r>
            <a:r>
              <a:rPr lang="en-IN" sz="1100" b="1" dirty="0">
                <a:solidFill>
                  <a:srgbClr val="888888"/>
                </a:solidFill>
                <a:latin typeface="Arial"/>
                <a:cs typeface="Arial"/>
              </a:rPr>
              <a:t>Artificial Intelligence and Data Science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0617" y="6357708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6B6C71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8600" y="457200"/>
            <a:ext cx="6228089" cy="472812"/>
          </a:xfrm>
          <a:prstGeom prst="rect">
            <a:avLst/>
          </a:prstGeom>
        </p:spPr>
        <p:txBody>
          <a:bodyPr vert="horz" wrap="square" lIns="0" tIns="102479" rIns="0" bIns="0" rtlCol="0">
            <a:spAutoFit/>
          </a:bodyPr>
          <a:lstStyle/>
          <a:p>
            <a:pPr marL="748665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9A5BD5E-F0FC-3317-6A7C-4CC19C0DD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4" y="1752600"/>
            <a:ext cx="998220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Edge AI Prediction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LSTM model deployed locally to forecast water levels in real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Autonomous Control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Model Predictive Control (MPC) for proactive gate &amp; pump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Low Latency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End-to-end decision-to-actuation within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&lt;300ms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Offline Reliability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Functions without constant internet; resilient to communication failures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Dashboard &amp; Alerts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Real-time monitoring and instant notifications to authorities &amp; citizens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Cloud Integration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Centralized model updates, long-term data storage, and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6720401" cy="449754"/>
          </a:xfrm>
          <a:prstGeom prst="rect">
            <a:avLst/>
          </a:prstGeom>
        </p:spPr>
        <p:txBody>
          <a:bodyPr vert="horz" wrap="square" lIns="0" tIns="796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&amp; Non-Functional Requirements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1E36A-F58B-0264-C6BB-E96B3E3E45F6}"/>
              </a:ext>
            </a:extLst>
          </p:cNvPr>
          <p:cNvSpPr txBox="1"/>
          <p:nvPr/>
        </p:nvSpPr>
        <p:spPr>
          <a:xfrm>
            <a:off x="838200" y="1476153"/>
            <a:ext cx="1098078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 (FRs)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Acquisition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Collect real-time sensor data (≤10s) &amp; integrate weather forecasts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LSTM model forecasts water levels &amp; flags overflow risks (&gt;95% TPR)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&amp; Actuation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MPC optimizes gate/pump operations &amp; executes commands within &lt;300ms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Dashboard displays system status; send real-time alerts to authorities/citizens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6B2BD-76D8-D5E8-D68F-D8733754460C}"/>
              </a:ext>
            </a:extLst>
          </p:cNvPr>
          <p:cNvSpPr txBox="1"/>
          <p:nvPr/>
        </p:nvSpPr>
        <p:spPr>
          <a:xfrm>
            <a:off x="914400" y="3733800"/>
            <a:ext cx="1067598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 (NFRs)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Prediction &amp; control cycle &lt;500ms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Reliability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Edge autonomy for ≥48 hours without internet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Modular design, easy expansion across multiple city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TLS/SSL encryption for all data transmissions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&gt;99.9% system uptime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599" y="319501"/>
            <a:ext cx="6228089" cy="584154"/>
          </a:xfrm>
          <a:prstGeom prst="rect">
            <a:avLst/>
          </a:prstGeom>
        </p:spPr>
        <p:txBody>
          <a:bodyPr vert="horz" wrap="square" lIns="0" tIns="212745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/ UML Diagrams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F3C829-2C26-66B7-A223-39A1A997C1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295400"/>
            <a:ext cx="838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599" y="319501"/>
            <a:ext cx="6228089" cy="539835"/>
          </a:xfrm>
          <a:prstGeom prst="rect">
            <a:avLst/>
          </a:prstGeom>
        </p:spPr>
        <p:txBody>
          <a:bodyPr vert="horz" wrap="square" lIns="0" tIns="168854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7252B1-2DAB-2250-9B04-F3888A132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599" y="1566446"/>
            <a:ext cx="1144480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Technical Feasibility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IoT sensors &amp; Edge AI available, LSTM + MPC proven, SCADA integration possible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Economic Feasibility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Lower cost than infra expansion, reduced cloud/bandwidth cost, long-term savings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Operational Feasibility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Easy dashboard use, minimal staff training, autonomous functioning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Legal &amp; Environmental Feasibility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Policy compliant, eco-friendly water management, flood damage reduction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C38F-F1F4-DBD7-A290-C2FD493BC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57200"/>
            <a:ext cx="6228089" cy="36933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AFDBDFC-064C-051E-AF28-79F4EF20C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343798"/>
            <a:ext cx="101346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IoT Sensors → Ultrasonic / Pressure / Rainfall sensors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Edge Devices → Raspberry Pi / NVIDIA Jetson Nano / Arduino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Frameworks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Programming → Python, C++ (for embedded control)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AI/ML → TensorFlow 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(LSTM model)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Control → MPC libraries, NumPy, SciPy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Database → SQLite / MySQL for local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APIs → Weather API integration, SCADA compatibility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Cloud → AWS / Google Cloud for model retraining &amp; backups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Alerts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Dashboard → Flask / Django / Node.js + React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Alerts → SMS/Email (Twilio), Push Notifications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Networking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Protocols → MQTT / HTTP for IoT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Security → TLS/SSL encryption, authentication layers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277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66AAB-8E7D-5C09-13D0-3F0FD1A01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6228089" cy="36933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&amp; 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BA82B0-95B2-455E-30AA-F01D1C9B1A4F}"/>
              </a:ext>
            </a:extLst>
          </p:cNvPr>
          <p:cNvSpPr txBox="1"/>
          <p:nvPr/>
        </p:nvSpPr>
        <p:spPr>
          <a:xfrm>
            <a:off x="685800" y="1447800"/>
            <a:ext cx="10439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(Pilot Phase)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Waterlogging Prevention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&gt;30% reduction in overflow volume/frequency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Efficiency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End-to-end decision latency &lt;300ms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 Quality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Flood prediction accuracy &gt;95% TPR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Operational Reliability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≥48 hours autonomous functioning without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&amp; Maintenance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&gt;50% reduction in emergency repair events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9B729-7E1D-8ED1-B7F4-AA435FF98373}"/>
              </a:ext>
            </a:extLst>
          </p:cNvPr>
          <p:cNvSpPr txBox="1"/>
          <p:nvPr/>
        </p:nvSpPr>
        <p:spPr>
          <a:xfrm>
            <a:off x="692727" y="3657600"/>
            <a:ext cx="111806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City-wide Deployment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Scale from pilot catchment to full urban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Data Sources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Integrate satellite imagery, CCTV, and crowdsourced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Predictive Maintenance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AI models for early detection of drain blockages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with Smart City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Link with traffic, disaster management, and IoT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Policy &amp; Research Impact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Contribute to urban flood resilience planning and smart infrastructure design</a:t>
            </a:r>
          </a:p>
        </p:txBody>
      </p:sp>
    </p:spTree>
    <p:extLst>
      <p:ext uri="{BB962C8B-B14F-4D97-AF65-F5344CB8AC3E}">
        <p14:creationId xmlns:p14="http://schemas.microsoft.com/office/powerpoint/2010/main" val="2681107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95657" y="5168898"/>
            <a:ext cx="2196465" cy="1689100"/>
            <a:chOff x="9995657" y="5168898"/>
            <a:chExt cx="2196465" cy="1689100"/>
          </a:xfrm>
        </p:grpSpPr>
        <p:sp>
          <p:nvSpPr>
            <p:cNvPr id="3" name="object 3"/>
            <p:cNvSpPr/>
            <p:nvPr/>
          </p:nvSpPr>
          <p:spPr>
            <a:xfrm>
              <a:off x="10748476" y="5168898"/>
              <a:ext cx="1443990" cy="1689100"/>
            </a:xfrm>
            <a:custGeom>
              <a:avLst/>
              <a:gdLst/>
              <a:ahLst/>
              <a:cxnLst/>
              <a:rect l="l" t="t" r="r" b="b"/>
              <a:pathLst>
                <a:path w="1443990" h="1689100">
                  <a:moveTo>
                    <a:pt x="1443524" y="1689102"/>
                  </a:moveTo>
                  <a:lnTo>
                    <a:pt x="0" y="1689102"/>
                  </a:lnTo>
                  <a:lnTo>
                    <a:pt x="12570" y="1654097"/>
                  </a:lnTo>
                  <a:lnTo>
                    <a:pt x="31461" y="1607247"/>
                  </a:lnTo>
                  <a:lnTo>
                    <a:pt x="51042" y="1560754"/>
                  </a:lnTo>
                  <a:lnTo>
                    <a:pt x="71306" y="1514625"/>
                  </a:lnTo>
                  <a:lnTo>
                    <a:pt x="92248" y="1468865"/>
                  </a:lnTo>
                  <a:lnTo>
                    <a:pt x="113861" y="1423481"/>
                  </a:lnTo>
                  <a:lnTo>
                    <a:pt x="136138" y="1378480"/>
                  </a:lnTo>
                  <a:lnTo>
                    <a:pt x="159074" y="1333868"/>
                  </a:lnTo>
                  <a:lnTo>
                    <a:pt x="182662" y="1289651"/>
                  </a:lnTo>
                  <a:lnTo>
                    <a:pt x="206895" y="1245836"/>
                  </a:lnTo>
                  <a:lnTo>
                    <a:pt x="231768" y="1202429"/>
                  </a:lnTo>
                  <a:lnTo>
                    <a:pt x="257273" y="1159435"/>
                  </a:lnTo>
                  <a:lnTo>
                    <a:pt x="283405" y="1116863"/>
                  </a:lnTo>
                  <a:lnTo>
                    <a:pt x="310157" y="1074718"/>
                  </a:lnTo>
                  <a:lnTo>
                    <a:pt x="337523" y="1033005"/>
                  </a:lnTo>
                  <a:lnTo>
                    <a:pt x="365497" y="991733"/>
                  </a:lnTo>
                  <a:lnTo>
                    <a:pt x="394071" y="950907"/>
                  </a:lnTo>
                  <a:lnTo>
                    <a:pt x="423240" y="910533"/>
                  </a:lnTo>
                  <a:lnTo>
                    <a:pt x="452998" y="870618"/>
                  </a:lnTo>
                  <a:lnTo>
                    <a:pt x="483337" y="831168"/>
                  </a:lnTo>
                  <a:lnTo>
                    <a:pt x="514253" y="792189"/>
                  </a:lnTo>
                  <a:lnTo>
                    <a:pt x="545737" y="753689"/>
                  </a:lnTo>
                  <a:lnTo>
                    <a:pt x="577785" y="715672"/>
                  </a:lnTo>
                  <a:lnTo>
                    <a:pt x="610389" y="678146"/>
                  </a:lnTo>
                  <a:lnTo>
                    <a:pt x="643544" y="641117"/>
                  </a:lnTo>
                  <a:lnTo>
                    <a:pt x="677242" y="604591"/>
                  </a:lnTo>
                  <a:lnTo>
                    <a:pt x="711478" y="568575"/>
                  </a:lnTo>
                  <a:lnTo>
                    <a:pt x="746245" y="533075"/>
                  </a:lnTo>
                  <a:lnTo>
                    <a:pt x="781537" y="498097"/>
                  </a:lnTo>
                  <a:lnTo>
                    <a:pt x="817348" y="463648"/>
                  </a:lnTo>
                  <a:lnTo>
                    <a:pt x="853671" y="429734"/>
                  </a:lnTo>
                  <a:lnTo>
                    <a:pt x="890499" y="396361"/>
                  </a:lnTo>
                  <a:lnTo>
                    <a:pt x="927827" y="363536"/>
                  </a:lnTo>
                  <a:lnTo>
                    <a:pt x="965648" y="331265"/>
                  </a:lnTo>
                  <a:lnTo>
                    <a:pt x="1003956" y="299554"/>
                  </a:lnTo>
                  <a:lnTo>
                    <a:pt x="1042744" y="268410"/>
                  </a:lnTo>
                  <a:lnTo>
                    <a:pt x="1082006" y="237840"/>
                  </a:lnTo>
                  <a:lnTo>
                    <a:pt x="1121736" y="207848"/>
                  </a:lnTo>
                  <a:lnTo>
                    <a:pt x="1161927" y="178443"/>
                  </a:lnTo>
                  <a:lnTo>
                    <a:pt x="1202573" y="149630"/>
                  </a:lnTo>
                  <a:lnTo>
                    <a:pt x="1243668" y="121415"/>
                  </a:lnTo>
                  <a:lnTo>
                    <a:pt x="1443523" y="0"/>
                  </a:lnTo>
                  <a:lnTo>
                    <a:pt x="1443524" y="1689102"/>
                  </a:lnTo>
                  <a:close/>
                </a:path>
              </a:pathLst>
            </a:custGeom>
            <a:solidFill>
              <a:srgbClr val="B22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95657" y="6458111"/>
              <a:ext cx="739679" cy="18097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22712" y="2306320"/>
            <a:ext cx="43465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7200" b="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7200" b="0" spc="-6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7200" b="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endParaRPr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60881" y="6420120"/>
            <a:ext cx="16230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B6C71"/>
                </a:solidFill>
                <a:latin typeface="Arial"/>
                <a:cs typeface="Arial"/>
              </a:rPr>
              <a:t>engg.dypvp.edu.in</a:t>
            </a:r>
            <a:r>
              <a:rPr sz="1400" spc="300" dirty="0">
                <a:solidFill>
                  <a:srgbClr val="6B6C71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B6C71"/>
                </a:solidFill>
                <a:latin typeface="Arial"/>
                <a:cs typeface="Arial"/>
              </a:rPr>
              <a:t>|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1229360" cy="6858000"/>
            <a:chOff x="0" y="0"/>
            <a:chExt cx="1229360" cy="6858000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530225" cy="6858000"/>
            </a:xfrm>
            <a:custGeom>
              <a:avLst/>
              <a:gdLst/>
              <a:ahLst/>
              <a:cxnLst/>
              <a:rect l="l" t="t" r="r" b="b"/>
              <a:pathLst>
                <a:path w="530225" h="6858000">
                  <a:moveTo>
                    <a:pt x="529607" y="0"/>
                  </a:moveTo>
                  <a:lnTo>
                    <a:pt x="529607" y="6857999"/>
                  </a:lnTo>
                  <a:lnTo>
                    <a:pt x="0" y="6857999"/>
                  </a:lnTo>
                  <a:lnTo>
                    <a:pt x="0" y="0"/>
                  </a:lnTo>
                  <a:lnTo>
                    <a:pt x="529607" y="0"/>
                  </a:lnTo>
                  <a:close/>
                </a:path>
              </a:pathLst>
            </a:custGeom>
            <a:solidFill>
              <a:srgbClr val="B22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9607" y="0"/>
              <a:ext cx="699770" cy="6858000"/>
            </a:xfrm>
            <a:custGeom>
              <a:avLst/>
              <a:gdLst/>
              <a:ahLst/>
              <a:cxnLst/>
              <a:rect l="l" t="t" r="r" b="b"/>
              <a:pathLst>
                <a:path w="699769" h="6858000">
                  <a:moveTo>
                    <a:pt x="0" y="0"/>
                  </a:moveTo>
                  <a:lnTo>
                    <a:pt x="699289" y="0"/>
                  </a:lnTo>
                  <a:lnTo>
                    <a:pt x="69928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A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911</Words>
  <Application>Microsoft Office PowerPoint</Application>
  <PresentationFormat>Widescreen</PresentationFormat>
  <Paragraphs>118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Department of Artificial Intelligence and Data Science </vt:lpstr>
      <vt:lpstr>Problem Statement &amp; Objectives</vt:lpstr>
      <vt:lpstr>Scope of the Project</vt:lpstr>
      <vt:lpstr>Existing System &amp; Limitations</vt:lpstr>
      <vt:lpstr>Proposed System</vt:lpstr>
      <vt:lpstr>Functional &amp; Non-Functional Requirements</vt:lpstr>
      <vt:lpstr>Use Case / UML Diagrams</vt:lpstr>
      <vt:lpstr>Feasibility Study</vt:lpstr>
      <vt:lpstr>Technology Stack</vt:lpstr>
      <vt:lpstr>Expected Outcomes &amp;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BE_Review-1 Template PPT.pptx</dc:title>
  <dc:creator>Tushar Chavhan AIDS</dc:creator>
  <cp:lastModifiedBy>Tushar Chavhan AIDS</cp:lastModifiedBy>
  <cp:revision>4</cp:revision>
  <dcterms:created xsi:type="dcterms:W3CDTF">2025-08-29T18:00:06Z</dcterms:created>
  <dcterms:modified xsi:type="dcterms:W3CDTF">2025-09-27T03:42:53Z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2025-08-29T00:00:00Z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2025-08-29T00:00:00Z</vt:filetime>
  </property>
</Properties>
</file>