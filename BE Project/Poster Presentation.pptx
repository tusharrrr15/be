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2.jpg" ContentType="image/jpeg"/>
  <Override PartName="/ppt/media/image1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198600" cy="20104100"/>
  <p:notesSz cx="141986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2" d="100"/>
          <a:sy n="32" d="100"/>
        </p:scale>
        <p:origin x="2156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4895" y="6232271"/>
            <a:ext cx="12068810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29790" y="11258296"/>
            <a:ext cx="993902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09930" y="4623943"/>
            <a:ext cx="6176391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12279" y="4623943"/>
            <a:ext cx="6176391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jp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197330" cy="20104100"/>
          </a:xfrm>
          <a:custGeom>
            <a:avLst/>
            <a:gdLst/>
            <a:ahLst/>
            <a:cxnLst/>
            <a:rect l="l" t="t" r="r" b="b"/>
            <a:pathLst>
              <a:path w="14197330" h="20104100">
                <a:moveTo>
                  <a:pt x="14197204" y="20103747"/>
                </a:moveTo>
                <a:lnTo>
                  <a:pt x="0" y="20103747"/>
                </a:lnTo>
                <a:lnTo>
                  <a:pt x="0" y="0"/>
                </a:lnTo>
                <a:lnTo>
                  <a:pt x="14197204" y="0"/>
                </a:lnTo>
                <a:lnTo>
                  <a:pt x="14197204" y="20103747"/>
                </a:lnTo>
                <a:close/>
              </a:path>
            </a:pathLst>
          </a:custGeom>
          <a:solidFill>
            <a:srgbClr val="DAE9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80966"/>
            <a:ext cx="14197204" cy="1737181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72746" y="8500413"/>
            <a:ext cx="4452040" cy="63871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18178" y="12485147"/>
            <a:ext cx="4508955" cy="51223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14197204" cy="280149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50301" y="421439"/>
            <a:ext cx="3016510" cy="872700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305917" y="4409591"/>
            <a:ext cx="8909685" cy="8587740"/>
          </a:xfrm>
          <a:custGeom>
            <a:avLst/>
            <a:gdLst/>
            <a:ahLst/>
            <a:cxnLst/>
            <a:rect l="l" t="t" r="r" b="b"/>
            <a:pathLst>
              <a:path w="8909685" h="8587740">
                <a:moveTo>
                  <a:pt x="4259046" y="4328693"/>
                </a:moveTo>
                <a:lnTo>
                  <a:pt x="0" y="4328693"/>
                </a:lnTo>
                <a:lnTo>
                  <a:pt x="0" y="8587740"/>
                </a:lnTo>
                <a:lnTo>
                  <a:pt x="4259046" y="8587740"/>
                </a:lnTo>
                <a:lnTo>
                  <a:pt x="4259046" y="4328693"/>
                </a:lnTo>
                <a:close/>
              </a:path>
              <a:path w="8909685" h="8587740">
                <a:moveTo>
                  <a:pt x="8909126" y="0"/>
                </a:moveTo>
                <a:lnTo>
                  <a:pt x="4616780" y="0"/>
                </a:lnTo>
                <a:lnTo>
                  <a:pt x="4616780" y="4258691"/>
                </a:lnTo>
                <a:lnTo>
                  <a:pt x="8909126" y="4258691"/>
                </a:lnTo>
                <a:lnTo>
                  <a:pt x="89091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16726596"/>
            <a:ext cx="14197204" cy="3376973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230917" y="255309"/>
            <a:ext cx="2516920" cy="1226839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5140985" y="3650741"/>
            <a:ext cx="57150" cy="3851275"/>
          </a:xfrm>
          <a:custGeom>
            <a:avLst/>
            <a:gdLst/>
            <a:ahLst/>
            <a:cxnLst/>
            <a:rect l="l" t="t" r="r" b="b"/>
            <a:pathLst>
              <a:path w="57150" h="3851275">
                <a:moveTo>
                  <a:pt x="56908" y="3826573"/>
                </a:moveTo>
                <a:lnTo>
                  <a:pt x="32118" y="3794277"/>
                </a:lnTo>
                <a:lnTo>
                  <a:pt x="24701" y="3794277"/>
                </a:lnTo>
                <a:lnTo>
                  <a:pt x="12" y="3826573"/>
                </a:lnTo>
                <a:lnTo>
                  <a:pt x="749" y="3830193"/>
                </a:lnTo>
                <a:lnTo>
                  <a:pt x="24701" y="3851186"/>
                </a:lnTo>
                <a:lnTo>
                  <a:pt x="32296" y="3851186"/>
                </a:lnTo>
                <a:lnTo>
                  <a:pt x="56908" y="3826573"/>
                </a:lnTo>
                <a:close/>
              </a:path>
              <a:path w="57150" h="3851275">
                <a:moveTo>
                  <a:pt x="56908" y="3067710"/>
                </a:moveTo>
                <a:lnTo>
                  <a:pt x="32118" y="3035414"/>
                </a:lnTo>
                <a:lnTo>
                  <a:pt x="24701" y="3035414"/>
                </a:lnTo>
                <a:lnTo>
                  <a:pt x="12" y="3067710"/>
                </a:lnTo>
                <a:lnTo>
                  <a:pt x="749" y="3071342"/>
                </a:lnTo>
                <a:lnTo>
                  <a:pt x="24701" y="3092335"/>
                </a:lnTo>
                <a:lnTo>
                  <a:pt x="32296" y="3092335"/>
                </a:lnTo>
                <a:lnTo>
                  <a:pt x="56908" y="3067710"/>
                </a:lnTo>
                <a:close/>
              </a:path>
              <a:path w="57150" h="3851275">
                <a:moveTo>
                  <a:pt x="56908" y="2308771"/>
                </a:moveTo>
                <a:lnTo>
                  <a:pt x="32118" y="2276564"/>
                </a:lnTo>
                <a:lnTo>
                  <a:pt x="24701" y="2276564"/>
                </a:lnTo>
                <a:lnTo>
                  <a:pt x="0" y="2301189"/>
                </a:lnTo>
                <a:lnTo>
                  <a:pt x="0" y="2308771"/>
                </a:lnTo>
                <a:lnTo>
                  <a:pt x="24701" y="2333396"/>
                </a:lnTo>
                <a:lnTo>
                  <a:pt x="32296" y="2333396"/>
                </a:lnTo>
                <a:lnTo>
                  <a:pt x="56908" y="2308771"/>
                </a:lnTo>
                <a:close/>
              </a:path>
              <a:path w="57150" h="3851275">
                <a:moveTo>
                  <a:pt x="56908" y="1549920"/>
                </a:moveTo>
                <a:lnTo>
                  <a:pt x="32118" y="1517713"/>
                </a:lnTo>
                <a:lnTo>
                  <a:pt x="24701" y="1517713"/>
                </a:lnTo>
                <a:lnTo>
                  <a:pt x="0" y="1542326"/>
                </a:lnTo>
                <a:lnTo>
                  <a:pt x="0" y="1549920"/>
                </a:lnTo>
                <a:lnTo>
                  <a:pt x="24701" y="1574546"/>
                </a:lnTo>
                <a:lnTo>
                  <a:pt x="32296" y="1574546"/>
                </a:lnTo>
                <a:lnTo>
                  <a:pt x="56908" y="1549920"/>
                </a:lnTo>
                <a:close/>
              </a:path>
              <a:path w="57150" h="3851275">
                <a:moveTo>
                  <a:pt x="56908" y="791057"/>
                </a:moveTo>
                <a:lnTo>
                  <a:pt x="32118" y="758850"/>
                </a:lnTo>
                <a:lnTo>
                  <a:pt x="24701" y="758850"/>
                </a:lnTo>
                <a:lnTo>
                  <a:pt x="0" y="783475"/>
                </a:lnTo>
                <a:lnTo>
                  <a:pt x="0" y="791057"/>
                </a:lnTo>
                <a:lnTo>
                  <a:pt x="24701" y="815682"/>
                </a:lnTo>
                <a:lnTo>
                  <a:pt x="32296" y="815682"/>
                </a:lnTo>
                <a:lnTo>
                  <a:pt x="56908" y="791057"/>
                </a:lnTo>
                <a:close/>
              </a:path>
              <a:path w="57150" h="3851275">
                <a:moveTo>
                  <a:pt x="56908" y="32207"/>
                </a:moveTo>
                <a:lnTo>
                  <a:pt x="32118" y="0"/>
                </a:lnTo>
                <a:lnTo>
                  <a:pt x="24701" y="0"/>
                </a:lnTo>
                <a:lnTo>
                  <a:pt x="0" y="24612"/>
                </a:lnTo>
                <a:lnTo>
                  <a:pt x="0" y="32207"/>
                </a:lnTo>
                <a:lnTo>
                  <a:pt x="24701" y="56819"/>
                </a:lnTo>
                <a:lnTo>
                  <a:pt x="32296" y="56819"/>
                </a:lnTo>
                <a:lnTo>
                  <a:pt x="56908" y="32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75093" y="2814480"/>
            <a:ext cx="4452040" cy="638716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26081" y="2805665"/>
            <a:ext cx="4452040" cy="638716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502069" y="14922919"/>
            <a:ext cx="57150" cy="1322070"/>
          </a:xfrm>
          <a:custGeom>
            <a:avLst/>
            <a:gdLst/>
            <a:ahLst/>
            <a:cxnLst/>
            <a:rect l="l" t="t" r="r" b="b"/>
            <a:pathLst>
              <a:path w="57150" h="1322069">
                <a:moveTo>
                  <a:pt x="56908" y="1296974"/>
                </a:moveTo>
                <a:lnTo>
                  <a:pt x="32131" y="1264767"/>
                </a:lnTo>
                <a:lnTo>
                  <a:pt x="24701" y="1264767"/>
                </a:lnTo>
                <a:lnTo>
                  <a:pt x="0" y="1289380"/>
                </a:lnTo>
                <a:lnTo>
                  <a:pt x="0" y="1296974"/>
                </a:lnTo>
                <a:lnTo>
                  <a:pt x="24701" y="1321600"/>
                </a:lnTo>
                <a:lnTo>
                  <a:pt x="32296" y="1321600"/>
                </a:lnTo>
                <a:lnTo>
                  <a:pt x="56908" y="1296974"/>
                </a:lnTo>
                <a:close/>
              </a:path>
              <a:path w="57150" h="1322069">
                <a:moveTo>
                  <a:pt x="56908" y="1044028"/>
                </a:moveTo>
                <a:lnTo>
                  <a:pt x="32131" y="1011809"/>
                </a:lnTo>
                <a:lnTo>
                  <a:pt x="24701" y="1011809"/>
                </a:lnTo>
                <a:lnTo>
                  <a:pt x="0" y="1036434"/>
                </a:lnTo>
                <a:lnTo>
                  <a:pt x="0" y="1044028"/>
                </a:lnTo>
                <a:lnTo>
                  <a:pt x="24701" y="1068641"/>
                </a:lnTo>
                <a:lnTo>
                  <a:pt x="32296" y="1068641"/>
                </a:lnTo>
                <a:lnTo>
                  <a:pt x="56908" y="1044028"/>
                </a:lnTo>
                <a:close/>
              </a:path>
              <a:path w="57150" h="1322069">
                <a:moveTo>
                  <a:pt x="56908" y="791070"/>
                </a:moveTo>
                <a:lnTo>
                  <a:pt x="32131" y="758863"/>
                </a:lnTo>
                <a:lnTo>
                  <a:pt x="24701" y="758863"/>
                </a:lnTo>
                <a:lnTo>
                  <a:pt x="0" y="783475"/>
                </a:lnTo>
                <a:lnTo>
                  <a:pt x="0" y="791070"/>
                </a:lnTo>
                <a:lnTo>
                  <a:pt x="24701" y="815682"/>
                </a:lnTo>
                <a:lnTo>
                  <a:pt x="32296" y="815682"/>
                </a:lnTo>
                <a:lnTo>
                  <a:pt x="56908" y="791070"/>
                </a:lnTo>
                <a:close/>
              </a:path>
              <a:path w="57150" h="1322069">
                <a:moveTo>
                  <a:pt x="56908" y="538111"/>
                </a:moveTo>
                <a:lnTo>
                  <a:pt x="32131" y="505904"/>
                </a:lnTo>
                <a:lnTo>
                  <a:pt x="24701" y="505904"/>
                </a:lnTo>
                <a:lnTo>
                  <a:pt x="0" y="530529"/>
                </a:lnTo>
                <a:lnTo>
                  <a:pt x="0" y="538111"/>
                </a:lnTo>
                <a:lnTo>
                  <a:pt x="24701" y="562737"/>
                </a:lnTo>
                <a:lnTo>
                  <a:pt x="32296" y="562737"/>
                </a:lnTo>
                <a:lnTo>
                  <a:pt x="56908" y="538111"/>
                </a:lnTo>
                <a:close/>
              </a:path>
              <a:path w="57150" h="1322069">
                <a:moveTo>
                  <a:pt x="56908" y="285165"/>
                </a:moveTo>
                <a:lnTo>
                  <a:pt x="32131" y="252958"/>
                </a:lnTo>
                <a:lnTo>
                  <a:pt x="24701" y="252958"/>
                </a:lnTo>
                <a:lnTo>
                  <a:pt x="0" y="277583"/>
                </a:lnTo>
                <a:lnTo>
                  <a:pt x="0" y="285165"/>
                </a:lnTo>
                <a:lnTo>
                  <a:pt x="24701" y="309791"/>
                </a:lnTo>
                <a:lnTo>
                  <a:pt x="32296" y="309791"/>
                </a:lnTo>
                <a:lnTo>
                  <a:pt x="56908" y="285165"/>
                </a:lnTo>
                <a:close/>
              </a:path>
              <a:path w="57150" h="1322069">
                <a:moveTo>
                  <a:pt x="56908" y="32219"/>
                </a:moveTo>
                <a:lnTo>
                  <a:pt x="32131" y="0"/>
                </a:lnTo>
                <a:lnTo>
                  <a:pt x="24701" y="0"/>
                </a:lnTo>
                <a:lnTo>
                  <a:pt x="0" y="24625"/>
                </a:lnTo>
                <a:lnTo>
                  <a:pt x="0" y="32219"/>
                </a:lnTo>
                <a:lnTo>
                  <a:pt x="24701" y="56832"/>
                </a:lnTo>
                <a:lnTo>
                  <a:pt x="32296" y="56832"/>
                </a:lnTo>
                <a:lnTo>
                  <a:pt x="56908" y="322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21042" y="17510378"/>
            <a:ext cx="63500" cy="1732914"/>
          </a:xfrm>
          <a:custGeom>
            <a:avLst/>
            <a:gdLst/>
            <a:ahLst/>
            <a:cxnLst/>
            <a:rect l="l" t="t" r="r" b="b"/>
            <a:pathLst>
              <a:path w="63500" h="1732915">
                <a:moveTo>
                  <a:pt x="63322" y="1696974"/>
                </a:moveTo>
                <a:lnTo>
                  <a:pt x="35839" y="1669491"/>
                </a:lnTo>
                <a:lnTo>
                  <a:pt x="27406" y="1669491"/>
                </a:lnTo>
                <a:lnTo>
                  <a:pt x="0" y="1696974"/>
                </a:lnTo>
                <a:lnTo>
                  <a:pt x="0" y="1705317"/>
                </a:lnTo>
                <a:lnTo>
                  <a:pt x="27317" y="1732813"/>
                </a:lnTo>
                <a:lnTo>
                  <a:pt x="35750" y="1732813"/>
                </a:lnTo>
                <a:lnTo>
                  <a:pt x="63233" y="1705317"/>
                </a:lnTo>
                <a:lnTo>
                  <a:pt x="63322" y="1696974"/>
                </a:lnTo>
                <a:close/>
              </a:path>
              <a:path w="63500" h="1732915">
                <a:moveTo>
                  <a:pt x="63322" y="1418729"/>
                </a:moveTo>
                <a:lnTo>
                  <a:pt x="35839" y="1391246"/>
                </a:lnTo>
                <a:lnTo>
                  <a:pt x="27406" y="1391246"/>
                </a:lnTo>
                <a:lnTo>
                  <a:pt x="0" y="1418729"/>
                </a:lnTo>
                <a:lnTo>
                  <a:pt x="0" y="1427073"/>
                </a:lnTo>
                <a:lnTo>
                  <a:pt x="27317" y="1454569"/>
                </a:lnTo>
                <a:lnTo>
                  <a:pt x="35750" y="1454569"/>
                </a:lnTo>
                <a:lnTo>
                  <a:pt x="63233" y="1427073"/>
                </a:lnTo>
                <a:lnTo>
                  <a:pt x="63322" y="1418729"/>
                </a:lnTo>
                <a:close/>
              </a:path>
              <a:path w="63500" h="1732915">
                <a:moveTo>
                  <a:pt x="63322" y="1140485"/>
                </a:moveTo>
                <a:lnTo>
                  <a:pt x="35839" y="1112989"/>
                </a:lnTo>
                <a:lnTo>
                  <a:pt x="27406" y="1112989"/>
                </a:lnTo>
                <a:lnTo>
                  <a:pt x="0" y="1140485"/>
                </a:lnTo>
                <a:lnTo>
                  <a:pt x="0" y="1148829"/>
                </a:lnTo>
                <a:lnTo>
                  <a:pt x="27317" y="1176312"/>
                </a:lnTo>
                <a:lnTo>
                  <a:pt x="35750" y="1176312"/>
                </a:lnTo>
                <a:lnTo>
                  <a:pt x="63233" y="1148829"/>
                </a:lnTo>
                <a:lnTo>
                  <a:pt x="63322" y="1140485"/>
                </a:lnTo>
                <a:close/>
              </a:path>
              <a:path w="63500" h="1732915">
                <a:moveTo>
                  <a:pt x="63322" y="583984"/>
                </a:moveTo>
                <a:lnTo>
                  <a:pt x="35839" y="556501"/>
                </a:lnTo>
                <a:lnTo>
                  <a:pt x="27406" y="556501"/>
                </a:lnTo>
                <a:lnTo>
                  <a:pt x="0" y="583984"/>
                </a:lnTo>
                <a:lnTo>
                  <a:pt x="0" y="592328"/>
                </a:lnTo>
                <a:lnTo>
                  <a:pt x="27317" y="619823"/>
                </a:lnTo>
                <a:lnTo>
                  <a:pt x="35750" y="619823"/>
                </a:lnTo>
                <a:lnTo>
                  <a:pt x="63233" y="592328"/>
                </a:lnTo>
                <a:lnTo>
                  <a:pt x="63322" y="583984"/>
                </a:lnTo>
                <a:close/>
              </a:path>
              <a:path w="63500" h="1732915">
                <a:moveTo>
                  <a:pt x="63322" y="27495"/>
                </a:moveTo>
                <a:lnTo>
                  <a:pt x="35839" y="0"/>
                </a:lnTo>
                <a:lnTo>
                  <a:pt x="27406" y="0"/>
                </a:lnTo>
                <a:lnTo>
                  <a:pt x="0" y="27495"/>
                </a:lnTo>
                <a:lnTo>
                  <a:pt x="0" y="35839"/>
                </a:lnTo>
                <a:lnTo>
                  <a:pt x="27317" y="63322"/>
                </a:lnTo>
                <a:lnTo>
                  <a:pt x="35750" y="63322"/>
                </a:lnTo>
                <a:lnTo>
                  <a:pt x="63233" y="35839"/>
                </a:lnTo>
                <a:lnTo>
                  <a:pt x="63322" y="27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9873970" y="13302106"/>
            <a:ext cx="57150" cy="2586355"/>
          </a:xfrm>
          <a:custGeom>
            <a:avLst/>
            <a:gdLst/>
            <a:ahLst/>
            <a:cxnLst/>
            <a:rect l="l" t="t" r="r" b="b"/>
            <a:pathLst>
              <a:path w="57150" h="2586355">
                <a:moveTo>
                  <a:pt x="56908" y="2554147"/>
                </a:moveTo>
                <a:lnTo>
                  <a:pt x="32296" y="2529522"/>
                </a:lnTo>
                <a:lnTo>
                  <a:pt x="24701" y="2529522"/>
                </a:lnTo>
                <a:lnTo>
                  <a:pt x="0" y="2554147"/>
                </a:lnTo>
                <a:lnTo>
                  <a:pt x="0" y="2561742"/>
                </a:lnTo>
                <a:lnTo>
                  <a:pt x="24701" y="2586355"/>
                </a:lnTo>
                <a:lnTo>
                  <a:pt x="32296" y="2586355"/>
                </a:lnTo>
                <a:lnTo>
                  <a:pt x="56908" y="2561742"/>
                </a:lnTo>
                <a:lnTo>
                  <a:pt x="56908" y="2554147"/>
                </a:lnTo>
                <a:close/>
              </a:path>
              <a:path w="57150" h="2586355">
                <a:moveTo>
                  <a:pt x="56908" y="1795297"/>
                </a:moveTo>
                <a:lnTo>
                  <a:pt x="32296" y="1770672"/>
                </a:lnTo>
                <a:lnTo>
                  <a:pt x="24701" y="1770672"/>
                </a:lnTo>
                <a:lnTo>
                  <a:pt x="0" y="1795297"/>
                </a:lnTo>
                <a:lnTo>
                  <a:pt x="0" y="1802892"/>
                </a:lnTo>
                <a:lnTo>
                  <a:pt x="24701" y="1827504"/>
                </a:lnTo>
                <a:lnTo>
                  <a:pt x="32296" y="1827504"/>
                </a:lnTo>
                <a:lnTo>
                  <a:pt x="56908" y="1802892"/>
                </a:lnTo>
                <a:lnTo>
                  <a:pt x="56908" y="1795297"/>
                </a:lnTo>
                <a:close/>
              </a:path>
              <a:path w="57150" h="2586355">
                <a:moveTo>
                  <a:pt x="56908" y="1036434"/>
                </a:moveTo>
                <a:lnTo>
                  <a:pt x="32296" y="1011821"/>
                </a:lnTo>
                <a:lnTo>
                  <a:pt x="24701" y="1011821"/>
                </a:lnTo>
                <a:lnTo>
                  <a:pt x="0" y="1036434"/>
                </a:lnTo>
                <a:lnTo>
                  <a:pt x="0" y="1044028"/>
                </a:lnTo>
                <a:lnTo>
                  <a:pt x="24701" y="1068654"/>
                </a:lnTo>
                <a:lnTo>
                  <a:pt x="32296" y="1068654"/>
                </a:lnTo>
                <a:lnTo>
                  <a:pt x="56908" y="1044028"/>
                </a:lnTo>
                <a:lnTo>
                  <a:pt x="56908" y="1036434"/>
                </a:lnTo>
                <a:close/>
              </a:path>
              <a:path w="57150" h="2586355">
                <a:moveTo>
                  <a:pt x="56908" y="24625"/>
                </a:moveTo>
                <a:lnTo>
                  <a:pt x="32296" y="0"/>
                </a:lnTo>
                <a:lnTo>
                  <a:pt x="24701" y="0"/>
                </a:lnTo>
                <a:lnTo>
                  <a:pt x="0" y="24625"/>
                </a:lnTo>
                <a:lnTo>
                  <a:pt x="0" y="32207"/>
                </a:lnTo>
                <a:lnTo>
                  <a:pt x="24701" y="56832"/>
                </a:lnTo>
                <a:lnTo>
                  <a:pt x="32296" y="56832"/>
                </a:lnTo>
                <a:lnTo>
                  <a:pt x="56908" y="32207"/>
                </a:lnTo>
                <a:lnTo>
                  <a:pt x="56908" y="24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867649" y="3585986"/>
            <a:ext cx="3610959" cy="331373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98413" y="11350087"/>
            <a:ext cx="3636254" cy="2422061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140987" y="9266720"/>
            <a:ext cx="3743761" cy="71080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9930" y="804164"/>
            <a:ext cx="12778740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9930" y="4623943"/>
            <a:ext cx="127787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27524" y="18696814"/>
            <a:ext cx="4543552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09930" y="18696814"/>
            <a:ext cx="326567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22992" y="18696814"/>
            <a:ext cx="326567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doi.org/10.1002/wat2.1635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7601" y="8780415"/>
            <a:ext cx="4097654" cy="199349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600" b="1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14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" marR="5080">
              <a:lnSpc>
                <a:spcPts val="1939"/>
              </a:lnSpc>
              <a:spcBef>
                <a:spcPts val="95"/>
              </a:spcBef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areas face frequent waterlogging due to rapid urbanization, climate change, and inefficient drainage </a:t>
            </a:r>
            <a:r>
              <a:rPr lang="en-US" sz="14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systems.Existing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flood prediction models are slow, data-limited, and not real-time.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AI-based integrated system that uses IoT, GIS, and weather data to predict and manage waterlogging effectively.</a:t>
            </a:r>
            <a:endParaRPr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7600" y="14334404"/>
            <a:ext cx="2037299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16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176" y="14762200"/>
            <a:ext cx="4170899" cy="16450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400"/>
              </a:lnSpc>
              <a:spcBef>
                <a:spcPts val="90"/>
              </a:spcBef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IoT, GIS, and weather data in real time</a:t>
            </a:r>
          </a:p>
          <a:p>
            <a:pPr marL="12700" marR="5080">
              <a:lnSpc>
                <a:spcPct val="119400"/>
              </a:lnSpc>
              <a:spcBef>
                <a:spcPts val="90"/>
              </a:spcBef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data accuracy and reliability.</a:t>
            </a:r>
            <a:endParaRPr lang="en-IN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19400"/>
              </a:lnSpc>
              <a:spcBef>
                <a:spcPts val="90"/>
              </a:spcBef>
            </a:pPr>
            <a:r>
              <a:rPr lang="en-IN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fast, efficient model performance.</a:t>
            </a:r>
          </a:p>
          <a:p>
            <a:pPr marL="12700" marR="5080">
              <a:lnSpc>
                <a:spcPct val="119400"/>
              </a:lnSpc>
              <a:spcBef>
                <a:spcPts val="90"/>
              </a:spcBef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the system for different city infrastructures.</a:t>
            </a:r>
          </a:p>
          <a:p>
            <a:pPr marL="12700" marR="5080">
              <a:lnSpc>
                <a:spcPct val="119400"/>
              </a:lnSpc>
              <a:spcBef>
                <a:spcPts val="90"/>
              </a:spcBef>
            </a:pPr>
            <a:r>
              <a:rPr lang="en-IN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flood prediction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19400"/>
              </a:lnSpc>
              <a:spcBef>
                <a:spcPts val="90"/>
              </a:spcBef>
            </a:pPr>
            <a:r>
              <a:rPr lang="en-IN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reliable response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4602" y="3534327"/>
            <a:ext cx="3757327" cy="42428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400"/>
              </a:lnSpc>
              <a:spcBef>
                <a:spcPts val="90"/>
              </a:spcBef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AI-based predictive model for waterlogging detection in urban areas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enable real-time monitoring and automated alerts through smart dashboards and visualization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optimize drainage management by predicting clogging or overflow conditions in advance.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urban flood risks by improving the accuracy and speed of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sustainable urban development through intelligent infrastructure planning.</a:t>
            </a:r>
          </a:p>
          <a:p>
            <a:pPr marL="12700" marR="5080">
              <a:lnSpc>
                <a:spcPct val="119400"/>
              </a:lnSpc>
              <a:spcBef>
                <a:spcPts val="90"/>
              </a:spcBef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700" marR="5080">
              <a:lnSpc>
                <a:spcPct val="119400"/>
              </a:lnSpc>
              <a:spcBef>
                <a:spcPts val="90"/>
              </a:spcBef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scalability and adaptability of the model for various city environments.</a:t>
            </a:r>
            <a:endParaRPr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22698" y="4409588"/>
            <a:ext cx="4292600" cy="210442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74015" marR="930275">
              <a:lnSpc>
                <a:spcPct val="119400"/>
              </a:lnSpc>
              <a:spcBef>
                <a:spcPts val="80"/>
              </a:spcBef>
            </a:pPr>
            <a:r>
              <a:rPr lang="en-US" sz="1200" spc="50" dirty="0">
                <a:latin typeface="Trebuchet MS"/>
                <a:cs typeface="Trebuchet MS"/>
              </a:rPr>
              <a:t> 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09507" y="8832913"/>
            <a:ext cx="4090035" cy="24506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8600"/>
              </a:lnSpc>
              <a:spcBef>
                <a:spcPts val="90"/>
              </a:spcBef>
            </a:pPr>
            <a:r>
              <a:rPr lang="en-US" sz="1400" dirty="0">
                <a:latin typeface="Trebuchet MS"/>
                <a:cs typeface="Trebuchet MS"/>
              </a:rPr>
              <a:t> 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601" y="2937219"/>
            <a:ext cx="4170899" cy="42812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0805" algn="ctr">
              <a:lnSpc>
                <a:spcPct val="100000"/>
              </a:lnSpc>
              <a:spcBef>
                <a:spcPts val="90"/>
              </a:spcBef>
            </a:pPr>
            <a:r>
              <a:rPr sz="2000" b="1" spc="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6199"/>
              </a:lnSpc>
              <a:spcBef>
                <a:spcPts val="1405"/>
              </a:spcBef>
            </a:pPr>
            <a:r>
              <a:rPr lang="en-US" sz="145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700" marR="5080" algn="just">
              <a:lnSpc>
                <a:spcPct val="116199"/>
              </a:lnSpc>
              <a:spcBef>
                <a:spcPts val="1405"/>
              </a:spcBef>
            </a:pPr>
            <a:r>
              <a:rPr lang="en-US" sz="145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an AI-driven multi-source framework for predicting and managing urban </a:t>
            </a:r>
            <a:r>
              <a:rPr lang="en-US" sz="1450" spc="5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waterlogging.It</a:t>
            </a:r>
            <a:r>
              <a:rPr lang="en-US" sz="145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IoT sensors, GIS-based drainage maps, and real-time meteorological data to provide accurate flood </a:t>
            </a:r>
            <a:r>
              <a:rPr lang="en-US" sz="1450" spc="5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insights.Using</a:t>
            </a:r>
            <a:r>
              <a:rPr lang="en-US" sz="145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 Short-Term Memory (LSTM) neural networks and ensemble learning, the system analyzes spatial and temporal patterns to predict </a:t>
            </a:r>
            <a:r>
              <a:rPr lang="en-US" sz="1450" spc="5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flooding.Key</a:t>
            </a:r>
            <a:r>
              <a:rPr lang="en-US" sz="145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innovations include real-time updates, edge computing for faster processing, and automated alert </a:t>
            </a:r>
            <a:r>
              <a:rPr lang="en-US" sz="1450" spc="5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systems.The</a:t>
            </a:r>
            <a:r>
              <a:rPr lang="en-US" sz="145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supports data-driven decision-making, improves urban resilience, and promotes sustainable city infrastructure.</a:t>
            </a:r>
            <a:endParaRPr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0877" y="8175906"/>
            <a:ext cx="2900045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45" dirty="0">
                <a:solidFill>
                  <a:srgbClr val="FFFFFF"/>
                </a:solidFill>
                <a:latin typeface="Trebuchet MS"/>
                <a:cs typeface="Trebuchet MS"/>
              </a:rPr>
              <a:t>Problem</a:t>
            </a:r>
            <a:r>
              <a:rPr sz="20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55" dirty="0">
                <a:solidFill>
                  <a:srgbClr val="FFFFFF"/>
                </a:solidFill>
                <a:latin typeface="Trebuchet MS"/>
                <a:cs typeface="Trebuchet MS"/>
              </a:rPr>
              <a:t>Specifications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8963" y="2961125"/>
            <a:ext cx="136017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35" dirty="0">
                <a:solidFill>
                  <a:srgbClr val="FFFFFF"/>
                </a:solidFill>
                <a:latin typeface="Trebuchet MS"/>
                <a:cs typeface="Trebuchet MS"/>
              </a:rPr>
              <a:t>Objectives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90495" y="12437720"/>
            <a:ext cx="3433405" cy="4487126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685165">
              <a:lnSpc>
                <a:spcPct val="100000"/>
              </a:lnSpc>
              <a:spcBef>
                <a:spcPts val="1140"/>
              </a:spcBef>
            </a:pPr>
            <a:r>
              <a:rPr lang="en-US" sz="2000" b="1" spc="9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19600"/>
              </a:lnSpc>
              <a:spcBef>
                <a:spcPts val="434"/>
              </a:spcBef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19600"/>
              </a:lnSpc>
              <a:spcBef>
                <a:spcPts val="434"/>
              </a:spcBef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can be scaled to different cities and infrastructure types with minimal modification.</a:t>
            </a:r>
          </a:p>
          <a:p>
            <a:pPr marL="12700" marR="5080">
              <a:lnSpc>
                <a:spcPct val="119600"/>
              </a:lnSpc>
              <a:spcBef>
                <a:spcPts val="434"/>
              </a:spcBef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urban resilience, reduces disaster risk, and supports sustainable development goals</a:t>
            </a:r>
          </a:p>
          <a:p>
            <a:pPr marL="12700" marR="5080">
              <a:lnSpc>
                <a:spcPct val="119600"/>
              </a:lnSpc>
              <a:spcBef>
                <a:spcPts val="434"/>
              </a:spcBef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faster and more accurate decision support, improving response time and minimizing damage.</a:t>
            </a:r>
          </a:p>
          <a:p>
            <a:pPr marL="12700" marR="5080">
              <a:lnSpc>
                <a:spcPct val="119600"/>
              </a:lnSpc>
              <a:spcBef>
                <a:spcPts val="434"/>
              </a:spcBef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implementation ensures cost-effective, decentralized deployment suitable for smart cities..</a:t>
            </a:r>
          </a:p>
          <a:p>
            <a:pPr marL="12700" marR="5080">
              <a:lnSpc>
                <a:spcPct val="119600"/>
              </a:lnSpc>
              <a:spcBef>
                <a:spcPts val="434"/>
              </a:spcBef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22896" y="2979463"/>
            <a:ext cx="2897505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80" dirty="0">
                <a:solidFill>
                  <a:srgbClr val="FFFFFF"/>
                </a:solidFill>
                <a:latin typeface="Trebuchet MS"/>
                <a:cs typeface="Trebuchet MS"/>
              </a:rPr>
              <a:t>Results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95" dirty="0">
                <a:solidFill>
                  <a:srgbClr val="FFFFFF"/>
                </a:solidFill>
                <a:latin typeface="Trebuchet MS"/>
                <a:cs typeface="Trebuchet MS"/>
              </a:rPr>
              <a:t>Discussion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27248" y="331043"/>
            <a:ext cx="6874509" cy="118618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sz="1750" b="1" dirty="0">
                <a:solidFill>
                  <a:srgbClr val="9D0D11"/>
                </a:solidFill>
                <a:latin typeface="Trebuchet MS"/>
                <a:cs typeface="Trebuchet MS"/>
              </a:rPr>
              <a:t>Dr.</a:t>
            </a:r>
            <a:r>
              <a:rPr sz="1750" b="1" spc="-70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9D0D11"/>
                </a:solidFill>
                <a:latin typeface="Trebuchet MS"/>
                <a:cs typeface="Trebuchet MS"/>
              </a:rPr>
              <a:t>D.</a:t>
            </a:r>
            <a:r>
              <a:rPr sz="1750" b="1" spc="-65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1750" b="1" spc="50" dirty="0">
                <a:solidFill>
                  <a:srgbClr val="9D0D11"/>
                </a:solidFill>
                <a:latin typeface="Trebuchet MS"/>
                <a:cs typeface="Trebuchet MS"/>
              </a:rPr>
              <a:t>Y.</a:t>
            </a:r>
            <a:r>
              <a:rPr sz="1750" b="1" spc="-65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9D0D11"/>
                </a:solidFill>
                <a:latin typeface="Trebuchet MS"/>
                <a:cs typeface="Trebuchet MS"/>
              </a:rPr>
              <a:t>Patil</a:t>
            </a:r>
            <a:r>
              <a:rPr sz="1750" b="1" spc="-65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1750" b="1" spc="50" dirty="0">
                <a:solidFill>
                  <a:srgbClr val="9D0D11"/>
                </a:solidFill>
                <a:latin typeface="Trebuchet MS"/>
                <a:cs typeface="Trebuchet MS"/>
              </a:rPr>
              <a:t>Unitech</a:t>
            </a:r>
            <a:r>
              <a:rPr sz="1750" b="1" spc="-70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1750" b="1" spc="55" dirty="0">
                <a:solidFill>
                  <a:srgbClr val="9D0D11"/>
                </a:solidFill>
                <a:latin typeface="Trebuchet MS"/>
                <a:cs typeface="Trebuchet MS"/>
              </a:rPr>
              <a:t>Society’s</a:t>
            </a:r>
            <a:endParaRPr sz="17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sz="2150" b="1" dirty="0">
                <a:solidFill>
                  <a:srgbClr val="9D0D11"/>
                </a:solidFill>
                <a:latin typeface="Trebuchet MS"/>
                <a:cs typeface="Trebuchet MS"/>
              </a:rPr>
              <a:t>Dr.</a:t>
            </a:r>
            <a:r>
              <a:rPr sz="2150" b="1" spc="-90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9D0D11"/>
                </a:solidFill>
                <a:latin typeface="Trebuchet MS"/>
                <a:cs typeface="Trebuchet MS"/>
              </a:rPr>
              <a:t>D.</a:t>
            </a:r>
            <a:r>
              <a:rPr sz="2150" b="1" spc="-85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2150" b="1" spc="55" dirty="0">
                <a:solidFill>
                  <a:srgbClr val="9D0D11"/>
                </a:solidFill>
                <a:latin typeface="Trebuchet MS"/>
                <a:cs typeface="Trebuchet MS"/>
              </a:rPr>
              <a:t>Y.</a:t>
            </a:r>
            <a:r>
              <a:rPr sz="2150" b="1" spc="-90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9D0D11"/>
                </a:solidFill>
                <a:latin typeface="Trebuchet MS"/>
                <a:cs typeface="Trebuchet MS"/>
              </a:rPr>
              <a:t>Patil</a:t>
            </a:r>
            <a:r>
              <a:rPr sz="2150" b="1" spc="-85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2150" b="1" spc="45" dirty="0">
                <a:solidFill>
                  <a:srgbClr val="9D0D11"/>
                </a:solidFill>
                <a:latin typeface="Trebuchet MS"/>
                <a:cs typeface="Trebuchet MS"/>
              </a:rPr>
              <a:t>Institute</a:t>
            </a:r>
            <a:r>
              <a:rPr sz="2150" b="1" spc="-90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2150" b="1" spc="80" dirty="0">
                <a:solidFill>
                  <a:srgbClr val="9D0D11"/>
                </a:solidFill>
                <a:latin typeface="Trebuchet MS"/>
                <a:cs typeface="Trebuchet MS"/>
              </a:rPr>
              <a:t>of</a:t>
            </a:r>
            <a:r>
              <a:rPr sz="2150" b="1" spc="-85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2150" b="1" spc="85" dirty="0">
                <a:solidFill>
                  <a:srgbClr val="9D0D11"/>
                </a:solidFill>
                <a:latin typeface="Trebuchet MS"/>
                <a:cs typeface="Trebuchet MS"/>
              </a:rPr>
              <a:t>Technology,</a:t>
            </a:r>
            <a:r>
              <a:rPr sz="2150" b="1" spc="-90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9D0D11"/>
                </a:solidFill>
                <a:latin typeface="Trebuchet MS"/>
                <a:cs typeface="Trebuchet MS"/>
              </a:rPr>
              <a:t>Pimpri,</a:t>
            </a:r>
            <a:r>
              <a:rPr sz="2150" b="1" spc="-85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2150" b="1" spc="60" dirty="0">
                <a:solidFill>
                  <a:srgbClr val="9D0D11"/>
                </a:solidFill>
                <a:latin typeface="Trebuchet MS"/>
                <a:cs typeface="Trebuchet MS"/>
              </a:rPr>
              <a:t>Pune</a:t>
            </a:r>
            <a:endParaRPr sz="21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sz="1950" b="1" spc="65" dirty="0">
                <a:solidFill>
                  <a:srgbClr val="9D0D11"/>
                </a:solidFill>
                <a:latin typeface="Trebuchet MS"/>
                <a:cs typeface="Trebuchet MS"/>
              </a:rPr>
              <a:t>Department</a:t>
            </a:r>
            <a:r>
              <a:rPr sz="1950" b="1" spc="-70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1950" b="1" spc="70" dirty="0">
                <a:solidFill>
                  <a:srgbClr val="9D0D11"/>
                </a:solidFill>
                <a:latin typeface="Trebuchet MS"/>
                <a:cs typeface="Trebuchet MS"/>
              </a:rPr>
              <a:t>of</a:t>
            </a:r>
            <a:r>
              <a:rPr sz="1950" b="1" spc="-65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1950" b="1" dirty="0">
                <a:solidFill>
                  <a:srgbClr val="9D0D11"/>
                </a:solidFill>
                <a:latin typeface="Trebuchet MS"/>
                <a:cs typeface="Trebuchet MS"/>
              </a:rPr>
              <a:t>Artificial</a:t>
            </a:r>
            <a:r>
              <a:rPr sz="1950" b="1" spc="-70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1950" b="1" spc="45" dirty="0">
                <a:solidFill>
                  <a:srgbClr val="9D0D11"/>
                </a:solidFill>
                <a:latin typeface="Trebuchet MS"/>
                <a:cs typeface="Trebuchet MS"/>
              </a:rPr>
              <a:t>Intelligence</a:t>
            </a:r>
            <a:r>
              <a:rPr sz="1950" b="1" spc="-65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1950" b="1" spc="95" dirty="0">
                <a:solidFill>
                  <a:srgbClr val="9D0D11"/>
                </a:solidFill>
                <a:latin typeface="Trebuchet MS"/>
                <a:cs typeface="Trebuchet MS"/>
              </a:rPr>
              <a:t>and</a:t>
            </a:r>
            <a:r>
              <a:rPr sz="1950" b="1" spc="-65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1950" b="1" spc="90" dirty="0">
                <a:solidFill>
                  <a:srgbClr val="9D0D11"/>
                </a:solidFill>
                <a:latin typeface="Trebuchet MS"/>
                <a:cs typeface="Trebuchet MS"/>
              </a:rPr>
              <a:t>Data</a:t>
            </a:r>
            <a:r>
              <a:rPr sz="1950" b="1" spc="-70" dirty="0">
                <a:solidFill>
                  <a:srgbClr val="9D0D11"/>
                </a:solidFill>
                <a:latin typeface="Trebuchet MS"/>
                <a:cs typeface="Trebuchet MS"/>
              </a:rPr>
              <a:t> </a:t>
            </a:r>
            <a:r>
              <a:rPr sz="1950" b="1" spc="90" dirty="0">
                <a:solidFill>
                  <a:srgbClr val="9D0D11"/>
                </a:solidFill>
                <a:latin typeface="Trebuchet MS"/>
                <a:cs typeface="Trebuchet MS"/>
              </a:rPr>
              <a:t>Science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828254" y="335753"/>
            <a:ext cx="1324610" cy="918844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2100" spc="90" dirty="0">
                <a:solidFill>
                  <a:srgbClr val="FFFFFF"/>
                </a:solidFill>
                <a:latin typeface="Trebuchet MS"/>
                <a:cs typeface="Trebuchet MS"/>
              </a:rPr>
              <a:t>Group</a:t>
            </a:r>
            <a:r>
              <a:rPr sz="21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35" dirty="0">
                <a:solidFill>
                  <a:srgbClr val="FFFFFF"/>
                </a:solidFill>
                <a:latin typeface="Trebuchet MS"/>
                <a:cs typeface="Trebuchet MS"/>
              </a:rPr>
              <a:t>No.</a:t>
            </a:r>
            <a:endParaRPr sz="2100" dirty="0">
              <a:latin typeface="Trebuchet MS"/>
              <a:cs typeface="Trebuchet MS"/>
            </a:endParaRPr>
          </a:p>
          <a:p>
            <a:pPr marL="66040" algn="ctr">
              <a:lnSpc>
                <a:spcPct val="100000"/>
              </a:lnSpc>
              <a:spcBef>
                <a:spcPts val="1010"/>
              </a:spcBef>
            </a:pPr>
            <a:r>
              <a:rPr lang="en-US"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47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0742" y="16965965"/>
            <a:ext cx="13019358" cy="2694584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0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marR="182880">
              <a:lnSpc>
                <a:spcPct val="111500"/>
              </a:lnSpc>
              <a:spcBef>
                <a:spcPts val="425"/>
              </a:spcBef>
            </a:pPr>
            <a:r>
              <a:rPr lang="en-IN" sz="145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IN" sz="1450" b="1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D. P. Selvam, G. G. Reddy, and N. M. Kumar, “Designing a </a:t>
            </a:r>
            <a:r>
              <a:rPr lang="en-IN" sz="1450" b="1" spc="-3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Smartand</a:t>
            </a:r>
            <a:r>
              <a:rPr lang="en-IN" sz="1450" b="1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Safe Drainage System using Artificial Intelligence,” </a:t>
            </a:r>
            <a:r>
              <a:rPr lang="en-IN" sz="1450" b="1" spc="-3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InternationalJournal</a:t>
            </a:r>
            <a:r>
              <a:rPr lang="en-IN" sz="1450" b="1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Engineering Research &amp; Technology (IJERT), vol. 9, no. 11,pp. 497–500, Nov. 2020.</a:t>
            </a:r>
            <a:endParaRPr lang="en-IN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marR="5080">
              <a:lnSpc>
                <a:spcPct val="111500"/>
              </a:lnSpc>
            </a:pPr>
            <a:r>
              <a:rPr lang="en-IN" sz="1450" b="1" spc="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b="1" spc="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D. Misra, G. Das, and D. Das, “Artificial Intelligent based </a:t>
            </a:r>
            <a:r>
              <a:rPr lang="en-US" sz="1450" b="1" spc="5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SmartDrainage</a:t>
            </a:r>
            <a:r>
              <a:rPr lang="en-US" sz="1450" b="1" spc="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System,” Research Square, Feb. 16, 2022. [Online]. </a:t>
            </a:r>
            <a:r>
              <a:rPr lang="en-US" sz="1450" b="1" spc="5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Available:https</a:t>
            </a:r>
            <a:r>
              <a:rPr lang="en-US" sz="1450" b="1" spc="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://doi.org/10.21203/rs.3.rs-1338435/v1</a:t>
            </a:r>
            <a:endParaRPr lang="en-IN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marR="17145">
              <a:lnSpc>
                <a:spcPct val="111500"/>
              </a:lnSpc>
            </a:pPr>
            <a:r>
              <a:rPr lang="en-IN" sz="14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P. Huang and K. T. Lee, “An alternative for predicting real-</a:t>
            </a:r>
            <a:r>
              <a:rPr lang="en-US" sz="145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timewater</a:t>
            </a:r>
            <a:r>
              <a:rPr lang="en-US" sz="14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levels of urban drainage systems,” Journal of </a:t>
            </a:r>
            <a:r>
              <a:rPr lang="en-US" sz="145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Environmen-tal</a:t>
            </a:r>
            <a:r>
              <a:rPr lang="en-US" sz="14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Management, vol. 347, p. 119099, 2023. [Online]. </a:t>
            </a:r>
            <a:r>
              <a:rPr lang="en-US" sz="145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Available:https</a:t>
            </a:r>
            <a:r>
              <a:rPr lang="en-US" sz="14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://doi.org/10.1016/j.jenvman.2023.119099</a:t>
            </a:r>
            <a:endParaRPr lang="en-IN" sz="145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marR="17145">
              <a:lnSpc>
                <a:spcPct val="111500"/>
              </a:lnSpc>
            </a:pPr>
            <a:r>
              <a:rPr lang="en-IN" sz="14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M. </a:t>
            </a:r>
            <a:r>
              <a:rPr lang="en-IN" sz="14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Saddiqi</a:t>
            </a:r>
            <a:r>
              <a:rPr lang="en-IN" sz="14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W. Zhao, S. Cotterill, and R. K. Dereli, “Smart </a:t>
            </a:r>
            <a:r>
              <a:rPr lang="en-IN" sz="14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managementof</a:t>
            </a:r>
            <a:r>
              <a:rPr lang="en-IN" sz="14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combined sewer overflows: From an ancient technology to </a:t>
            </a:r>
            <a:r>
              <a:rPr lang="en-IN" sz="14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artificialintelligence</a:t>
            </a:r>
            <a:r>
              <a:rPr lang="en-IN" sz="14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,” Journal of Environmental Management, 2023. [Online].Available: </a:t>
            </a:r>
            <a:r>
              <a:rPr lang="en-IN" sz="14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https://doi.org/10.1002/wat2.1635</a:t>
            </a:r>
            <a:endParaRPr lang="en-IN" sz="14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marR="17145">
              <a:lnSpc>
                <a:spcPct val="111500"/>
              </a:lnSpc>
            </a:pPr>
            <a:endParaRPr lang="en-IN" sz="145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51108" y="1692992"/>
            <a:ext cx="8759190" cy="922046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800" b="1" dirty="0">
                <a:latin typeface="Trebuchet MS"/>
                <a:cs typeface="Trebuchet MS"/>
              </a:rPr>
              <a:t>Title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spc="-135" dirty="0">
                <a:latin typeface="Trebuchet MS"/>
                <a:cs typeface="Trebuchet MS"/>
              </a:rPr>
              <a:t>: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“</a:t>
            </a:r>
            <a:r>
              <a:rPr lang="en-US" sz="1800" b="1" dirty="0">
                <a:latin typeface="Trebuchet MS"/>
                <a:cs typeface="Trebuchet MS"/>
              </a:rPr>
              <a:t>AI for Sustainable Urban Drainage System for Effective Waterlogging Prediction and Management</a:t>
            </a:r>
            <a:r>
              <a:rPr sz="1800" b="1" spc="-10" dirty="0">
                <a:latin typeface="Trebuchet MS"/>
                <a:cs typeface="Trebuchet MS"/>
              </a:rPr>
              <a:t>”</a:t>
            </a:r>
            <a:endParaRPr sz="18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800" b="1" spc="55" dirty="0">
                <a:latin typeface="Trebuchet MS"/>
                <a:cs typeface="Trebuchet MS"/>
              </a:rPr>
              <a:t>Student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spc="60" dirty="0">
                <a:latin typeface="Trebuchet MS"/>
                <a:cs typeface="Trebuchet MS"/>
              </a:rPr>
              <a:t>Names: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lang="en-US" b="1" spc="-60" dirty="0">
                <a:latin typeface="Trebuchet MS"/>
                <a:cs typeface="Trebuchet MS"/>
              </a:rPr>
              <a:t>Tushar </a:t>
            </a:r>
            <a:r>
              <a:rPr lang="en-US" b="1" spc="-60" dirty="0" err="1">
                <a:latin typeface="Trebuchet MS"/>
                <a:cs typeface="Trebuchet MS"/>
              </a:rPr>
              <a:t>Chavhan,Sakshi</a:t>
            </a:r>
            <a:r>
              <a:rPr lang="en-US" b="1" spc="-60" dirty="0">
                <a:latin typeface="Trebuchet MS"/>
                <a:cs typeface="Trebuchet MS"/>
              </a:rPr>
              <a:t> </a:t>
            </a:r>
            <a:r>
              <a:rPr lang="en-US" b="1" spc="-60" dirty="0" err="1">
                <a:latin typeface="Trebuchet MS"/>
                <a:cs typeface="Trebuchet MS"/>
              </a:rPr>
              <a:t>Ingale,Vrushali</a:t>
            </a:r>
            <a:r>
              <a:rPr lang="en-US" b="1" spc="-60" dirty="0">
                <a:latin typeface="Trebuchet MS"/>
                <a:cs typeface="Trebuchet MS"/>
              </a:rPr>
              <a:t> </a:t>
            </a:r>
            <a:r>
              <a:rPr lang="en-US" b="1" spc="-60" dirty="0" err="1">
                <a:latin typeface="Trebuchet MS"/>
                <a:cs typeface="Trebuchet MS"/>
              </a:rPr>
              <a:t>Dhage,Snehal</a:t>
            </a:r>
            <a:r>
              <a:rPr lang="en-US" b="1" spc="-60" dirty="0">
                <a:latin typeface="Trebuchet MS"/>
                <a:cs typeface="Trebuchet MS"/>
              </a:rPr>
              <a:t> Godage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1031" name="Picture 7" descr="New AI system may help prevent water logging in cities' | India News -  Times of India">
            <a:extLst>
              <a:ext uri="{FF2B5EF4-FFF2-40B4-BE49-F238E27FC236}">
                <a16:creationId xmlns:a16="http://schemas.microsoft.com/office/drawing/2014/main" id="{0BB8796C-35E4-90ED-7584-D89F3E28F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50" y="11134523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643CEAA-8F4E-2B4A-2B49-AEB159C4A7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158" y="9373962"/>
            <a:ext cx="4325292" cy="7011714"/>
          </a:xfrm>
          <a:prstGeom prst="rect">
            <a:avLst/>
          </a:prstGeom>
        </p:spPr>
      </p:pic>
      <p:sp>
        <p:nvSpPr>
          <p:cNvPr id="27" name="object 12">
            <a:extLst>
              <a:ext uri="{FF2B5EF4-FFF2-40B4-BE49-F238E27FC236}">
                <a16:creationId xmlns:a16="http://schemas.microsoft.com/office/drawing/2014/main" id="{FE305036-A450-F9F2-537C-C72DC77C01F4}"/>
              </a:ext>
            </a:extLst>
          </p:cNvPr>
          <p:cNvSpPr txBox="1"/>
          <p:nvPr/>
        </p:nvSpPr>
        <p:spPr>
          <a:xfrm>
            <a:off x="6189110" y="8668448"/>
            <a:ext cx="2900045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b="1" spc="45" dirty="0">
                <a:solidFill>
                  <a:srgbClr val="FFFFFF"/>
                </a:solidFill>
                <a:latin typeface="Trebuchet MS"/>
                <a:cs typeface="Trebuchet MS"/>
              </a:rPr>
              <a:t>Methodology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8" name="AutoShape 11" descr="Statistical Chart PNG Transparent Images Free Download | Vector Files |  Pngtree">
            <a:extLst>
              <a:ext uri="{FF2B5EF4-FFF2-40B4-BE49-F238E27FC236}">
                <a16:creationId xmlns:a16="http://schemas.microsoft.com/office/drawing/2014/main" id="{24BEDC85-510B-C0F0-089D-4C1EBEDF31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46900" y="98996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B5EE096-C82C-0644-2059-2B17DD2595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031" y="3534327"/>
            <a:ext cx="3658839" cy="3429000"/>
          </a:xfrm>
          <a:prstGeom prst="rect">
            <a:avLst/>
          </a:prstGeom>
        </p:spPr>
      </p:pic>
      <p:sp>
        <p:nvSpPr>
          <p:cNvPr id="33" name="Rectangle 16">
            <a:extLst>
              <a:ext uri="{FF2B5EF4-FFF2-40B4-BE49-F238E27FC236}">
                <a16:creationId xmlns:a16="http://schemas.microsoft.com/office/drawing/2014/main" id="{FCDBEBF1-694F-6475-F7FD-4F1E8226B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9969" y="6740189"/>
            <a:ext cx="3443357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AI-based system achieved over 92% prediction accuracy in identifying potential waterlogging zones.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False alerts were reduced by 5× using multi-source data fusion of IoT, GIS, and weather inputs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provided early alerts 2–3 hours before flooding, allowing timely preventive actions.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dashboards helped city officials easily monitor risk areas and take quick decisions.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proved to be cost-efficient, scalable, and suitable for smart city applications.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enhanced urban resilience, reduced flood impact, and supported sustainable drainage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736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Times New Roman</vt:lpstr>
      <vt:lpstr>Trebuchet MS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Template.pdf.pdf</dc:title>
  <dc:creator>Aditya Mahindrakar</dc:creator>
  <cp:keywords>DAG3QxMXfw4,BAF17sI5Lvw,0</cp:keywords>
  <cp:lastModifiedBy>Tushar Chavhan AIDS</cp:lastModifiedBy>
  <cp:revision>7</cp:revision>
  <dcterms:created xsi:type="dcterms:W3CDTF">2025-10-30T19:18:28Z</dcterms:created>
  <dcterms:modified xsi:type="dcterms:W3CDTF">2025-10-31T04:48:11Z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2025-10-30T00:00:00Z</vt:filetime>
  </property>
  <property fmtid="{D5CDD505-2E9C-101B-9397-08002B2CF9AE}" pid="3" name="Creator">
    <vt:lpwstr>Canva</vt:lpwstr>
  </property>
  <property fmtid="{D5CDD505-2E9C-101B-9397-08002B2CF9AE}" pid="4" name="LastSaved">
    <vt:filetime>2025-10-30T00:00:00Z</vt:filetime>
  </property>
  <property fmtid="{D5CDD505-2E9C-101B-9397-08002B2CF9AE}" pid="5" name="Producer">
    <vt:lpwstr>Canva</vt:lpwstr>
  </property>
</Properties>
</file>