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4" r:id="rId11"/>
    <p:sldId id="265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6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B6C7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B6C7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B6C7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B6C7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8200" y="1076440"/>
            <a:ext cx="2129790" cy="150495"/>
          </a:xfrm>
          <a:custGeom>
            <a:avLst/>
            <a:gdLst/>
            <a:ahLst/>
            <a:cxnLst/>
            <a:rect l="l" t="t" r="r" b="b"/>
            <a:pathLst>
              <a:path w="2129790" h="150494">
                <a:moveTo>
                  <a:pt x="2054505" y="150470"/>
                </a:moveTo>
                <a:lnTo>
                  <a:pt x="75235" y="150470"/>
                </a:lnTo>
                <a:lnTo>
                  <a:pt x="45950" y="144558"/>
                </a:lnTo>
                <a:lnTo>
                  <a:pt x="22035" y="128435"/>
                </a:lnTo>
                <a:lnTo>
                  <a:pt x="5912" y="104520"/>
                </a:lnTo>
                <a:lnTo>
                  <a:pt x="0" y="75235"/>
                </a:lnTo>
                <a:lnTo>
                  <a:pt x="5812" y="46444"/>
                </a:lnTo>
                <a:lnTo>
                  <a:pt x="5912" y="45950"/>
                </a:lnTo>
                <a:lnTo>
                  <a:pt x="22035" y="22035"/>
                </a:lnTo>
                <a:lnTo>
                  <a:pt x="45950" y="5912"/>
                </a:lnTo>
                <a:lnTo>
                  <a:pt x="75235" y="0"/>
                </a:lnTo>
                <a:lnTo>
                  <a:pt x="2054505" y="0"/>
                </a:lnTo>
                <a:lnTo>
                  <a:pt x="2096246" y="12640"/>
                </a:lnTo>
                <a:lnTo>
                  <a:pt x="2124014" y="46444"/>
                </a:lnTo>
                <a:lnTo>
                  <a:pt x="2129740" y="75235"/>
                </a:lnTo>
                <a:lnTo>
                  <a:pt x="2123828" y="104520"/>
                </a:lnTo>
                <a:lnTo>
                  <a:pt x="2107704" y="128435"/>
                </a:lnTo>
                <a:lnTo>
                  <a:pt x="2083790" y="144558"/>
                </a:lnTo>
                <a:lnTo>
                  <a:pt x="2054505" y="150470"/>
                </a:lnTo>
                <a:close/>
              </a:path>
            </a:pathLst>
          </a:custGeom>
          <a:solidFill>
            <a:srgbClr val="B22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9600" y="6721475"/>
            <a:ext cx="10972800" cy="136525"/>
          </a:xfrm>
          <a:custGeom>
            <a:avLst/>
            <a:gdLst/>
            <a:ahLst/>
            <a:cxnLst/>
            <a:rect l="l" t="t" r="r" b="b"/>
            <a:pathLst>
              <a:path w="10972800" h="136525">
                <a:moveTo>
                  <a:pt x="10972799" y="136525"/>
                </a:moveTo>
                <a:lnTo>
                  <a:pt x="0" y="136525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136525"/>
                </a:lnTo>
                <a:close/>
              </a:path>
            </a:pathLst>
          </a:custGeom>
          <a:solidFill>
            <a:srgbClr val="D1A5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09600" y="621792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>
                <a:moveTo>
                  <a:pt x="0" y="0"/>
                </a:moveTo>
                <a:lnTo>
                  <a:pt x="10972799" y="0"/>
                </a:lnTo>
              </a:path>
            </a:pathLst>
          </a:custGeom>
          <a:ln w="9524">
            <a:solidFill>
              <a:srgbClr val="B2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8599" y="319501"/>
            <a:ext cx="6228089" cy="636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B6C7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7550" y="1917648"/>
            <a:ext cx="9498330" cy="2585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3855" y="2047423"/>
            <a:ext cx="71037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000" b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r>
              <a:rPr sz="20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064385" cy="6858000"/>
            <a:chOff x="0" y="0"/>
            <a:chExt cx="2064385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699770" cy="6858000"/>
            </a:xfrm>
            <a:custGeom>
              <a:avLst/>
              <a:gdLst/>
              <a:ahLst/>
              <a:cxnLst/>
              <a:rect l="l" t="t" r="r" b="b"/>
              <a:pathLst>
                <a:path w="699770" h="6858000">
                  <a:moveTo>
                    <a:pt x="69928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699289" y="0"/>
                  </a:lnTo>
                  <a:lnTo>
                    <a:pt x="699289" y="6857999"/>
                  </a:lnTo>
                  <a:close/>
                </a:path>
              </a:pathLst>
            </a:custGeom>
            <a:solidFill>
              <a:srgbClr val="B22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9289" y="0"/>
              <a:ext cx="666115" cy="6858000"/>
            </a:xfrm>
            <a:custGeom>
              <a:avLst/>
              <a:gdLst/>
              <a:ahLst/>
              <a:cxnLst/>
              <a:rect l="l" t="t" r="r" b="b"/>
              <a:pathLst>
                <a:path w="666115" h="6858000">
                  <a:moveTo>
                    <a:pt x="0" y="6857999"/>
                  </a:moveTo>
                  <a:lnTo>
                    <a:pt x="665560" y="6857999"/>
                  </a:lnTo>
                  <a:lnTo>
                    <a:pt x="665560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D1A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4850" y="0"/>
              <a:ext cx="699770" cy="6858000"/>
            </a:xfrm>
            <a:custGeom>
              <a:avLst/>
              <a:gdLst/>
              <a:ahLst/>
              <a:cxnLst/>
              <a:rect l="l" t="t" r="r" b="b"/>
              <a:pathLst>
                <a:path w="699769" h="6858000">
                  <a:moveTo>
                    <a:pt x="69928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699289" y="0"/>
                  </a:lnTo>
                  <a:lnTo>
                    <a:pt x="699289" y="6857999"/>
                  </a:lnTo>
                  <a:close/>
                </a:path>
              </a:pathLst>
            </a:custGeom>
            <a:solidFill>
              <a:srgbClr val="6B6C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138252" y="3178140"/>
            <a:ext cx="19291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sz="2000" spc="-2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6800" y="3482940"/>
            <a:ext cx="2340337" cy="1467709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80035" marR="5080" indent="-280035" algn="l">
              <a:lnSpc>
                <a:spcPct val="100000"/>
              </a:lnSpc>
              <a:spcBef>
                <a:spcPts val="545"/>
              </a:spcBef>
              <a:buAutoNum type="arabicPeriod"/>
              <a:tabLst>
                <a:tab pos="280035" algn="l"/>
              </a:tabLst>
            </a:pPr>
            <a:r>
              <a:rPr lang="en-IN"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Tushar Chavhan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0035" marR="71120" indent="-280035" algn="l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280035" algn="l"/>
              </a:tabLst>
            </a:pPr>
            <a:r>
              <a:rPr lang="en-IN"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Sakshi Ingale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0035" marR="68580" indent="-280035" algn="l">
              <a:lnSpc>
                <a:spcPct val="100000"/>
              </a:lnSpc>
              <a:spcBef>
                <a:spcPts val="445"/>
              </a:spcBef>
              <a:buAutoNum type="arabicPeriod"/>
              <a:tabLst>
                <a:tab pos="280035" algn="l"/>
              </a:tabLst>
            </a:pPr>
            <a:r>
              <a:rPr lang="en-IN"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Vrushali Dhage</a:t>
            </a:r>
          </a:p>
          <a:p>
            <a:pPr marL="280035" marR="68580" indent="-280035" algn="l">
              <a:lnSpc>
                <a:spcPct val="100000"/>
              </a:lnSpc>
              <a:spcBef>
                <a:spcPts val="445"/>
              </a:spcBef>
              <a:buAutoNum type="arabicPeriod"/>
              <a:tabLst>
                <a:tab pos="280035" algn="l"/>
              </a:tabLst>
            </a:pPr>
            <a:r>
              <a:rPr lang="en-IN"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Snehal </a:t>
            </a:r>
            <a:r>
              <a:rPr lang="en-IN" sz="2000" dirty="0" err="1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Godage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82540" y="3482940"/>
            <a:ext cx="1846294" cy="145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marR="5080" indent="-238125">
              <a:lnSpc>
                <a:spcPct val="118700"/>
              </a:lnSpc>
              <a:spcBef>
                <a:spcPts val="100"/>
              </a:spcBef>
            </a:pPr>
            <a:r>
              <a:rPr lang="en-IN"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sz="2000" spc="-5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</a:t>
            </a:r>
            <a:r>
              <a:rPr lang="en-IN"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sz="2000" spc="-5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</a:t>
            </a:r>
            <a:r>
              <a:rPr lang="en-IN"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sz="2000" spc="-5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sz="2000" spc="-4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30</a:t>
            </a:r>
          </a:p>
          <a:p>
            <a:pPr marL="250190" marR="5080" indent="-238125">
              <a:lnSpc>
                <a:spcPct val="118700"/>
              </a:lnSpc>
              <a:spcBef>
                <a:spcPts val="100"/>
              </a:spcBef>
            </a:pPr>
            <a:r>
              <a:rPr lang="en-IN" sz="2000" spc="-4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Roll No. 49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8528" y="5118100"/>
            <a:ext cx="560895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2000" spc="-8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4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sz="2000" spc="-4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4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spc="-4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2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Sonam Singh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sz="2000" spc="-4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A.Y.2025-</a:t>
            </a:r>
            <a:r>
              <a:rPr sz="2000" spc="-2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28957" y="273417"/>
            <a:ext cx="8795385" cy="1666239"/>
            <a:chOff x="3028957" y="273417"/>
            <a:chExt cx="8795385" cy="1666239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8896" y="273417"/>
              <a:ext cx="8083813" cy="16657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28957" y="1855141"/>
              <a:ext cx="8795385" cy="0"/>
            </a:xfrm>
            <a:custGeom>
              <a:avLst/>
              <a:gdLst/>
              <a:ahLst/>
              <a:cxnLst/>
              <a:rect l="l" t="t" r="r" b="b"/>
              <a:pathLst>
                <a:path w="8795385">
                  <a:moveTo>
                    <a:pt x="0" y="0"/>
                  </a:moveTo>
                  <a:lnTo>
                    <a:pt x="8795061" y="0"/>
                  </a:lnTo>
                </a:path>
              </a:pathLst>
            </a:custGeom>
            <a:ln w="9524">
              <a:solidFill>
                <a:srgbClr val="6B6C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5666" y="6204362"/>
            <a:ext cx="3390273" cy="348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554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Introduction to the Problem Domain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2624" y="6346707"/>
            <a:ext cx="50323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88888"/>
                </a:solidFill>
                <a:latin typeface="Arial"/>
                <a:cs typeface="Arial"/>
              </a:rPr>
              <a:t>Dr.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D.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888888"/>
                </a:solidFill>
                <a:latin typeface="Arial"/>
                <a:cs typeface="Arial"/>
              </a:rPr>
              <a:t>Y.</a:t>
            </a:r>
            <a:r>
              <a:rPr sz="1100" spc="-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Patil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Institute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of</a:t>
            </a:r>
            <a:r>
              <a:rPr sz="1100" spc="-5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Technology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|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lang="en-IN" sz="1100" b="1" dirty="0">
                <a:solidFill>
                  <a:srgbClr val="888888"/>
                </a:solidFill>
                <a:latin typeface="Arial"/>
                <a:cs typeface="Arial"/>
              </a:rPr>
              <a:t>Artificial Intelligence and Data Science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0617" y="635770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B6C71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0F412E6-73F9-F6FD-D504-82F2B5029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1524000"/>
            <a:ext cx="105156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→ insufficient drainage infrastructure.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Increasing rainfall events due to climate change.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Cities like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Pimpri-Chinchwad, Mumbai, Chennai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face frequent  waterlogging.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Impact: Traffic disruption, property damage, health risks, and economic loss.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relevance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Predictive modeling, real-time monitoring, and adaptive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937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0617" y="635770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B6C71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DD0AEF0-65E6-43BF-6219-E1AA1B85264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80888" y="1600200"/>
            <a:ext cx="1080021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Urban areas face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 waterlogging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due to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intense rainfall and inadequate drainage capacity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are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reactive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flooding is addressed only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it occurs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analysis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makes early warning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Current research mainly focuses on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rainfall prediction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flood mapping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on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drainage performance and preventive measures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need for an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solution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+ real-time monitoring + preventive action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reduce waterlogging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2624" y="6346670"/>
            <a:ext cx="50323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88888"/>
                </a:solidFill>
                <a:latin typeface="Arial"/>
                <a:cs typeface="Arial"/>
              </a:rPr>
              <a:t>Dr.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D.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888888"/>
                </a:solidFill>
                <a:latin typeface="Arial"/>
                <a:cs typeface="Arial"/>
              </a:rPr>
              <a:t>Y.</a:t>
            </a:r>
            <a:r>
              <a:rPr sz="1100" spc="-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Patil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Institute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of</a:t>
            </a:r>
            <a:r>
              <a:rPr sz="1100" spc="-5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Technology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|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lang="en-IN" sz="1100" b="1" dirty="0">
                <a:solidFill>
                  <a:srgbClr val="888888"/>
                </a:solidFill>
                <a:latin typeface="Arial"/>
                <a:cs typeface="Arial"/>
              </a:rPr>
              <a:t>Artificial Intelligence and Data Science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0737" y="635771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B6C71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dirty="0"/>
              <a:t>Aim</a:t>
            </a:r>
            <a:r>
              <a:rPr spc="-4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Objectives: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10DCC5-B710-5916-27CD-7722A9EB4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4" y="1739443"/>
            <a:ext cx="100584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predictive model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waterlogging risks.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sensors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(water level, rainfall, flow rate) for real-time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municipal authorities and citizens.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Suggest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improvements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drainage design and maintenance.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 socio-economic impacts of urban flooding.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2624" y="6346707"/>
            <a:ext cx="50323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88888"/>
                </a:solidFill>
                <a:latin typeface="Arial"/>
                <a:cs typeface="Arial"/>
              </a:rPr>
              <a:t>Dr.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D.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888888"/>
                </a:solidFill>
                <a:latin typeface="Arial"/>
                <a:cs typeface="Arial"/>
              </a:rPr>
              <a:t>Y.</a:t>
            </a:r>
            <a:r>
              <a:rPr sz="1100" spc="-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Patil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Institute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of</a:t>
            </a:r>
            <a:r>
              <a:rPr sz="1100" spc="-5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Technology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|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lang="en-IN" sz="1100" b="1" dirty="0">
                <a:solidFill>
                  <a:srgbClr val="888888"/>
                </a:solidFill>
                <a:latin typeface="Arial"/>
                <a:cs typeface="Arial"/>
              </a:rPr>
              <a:t>Artificial Intelligence and Data Science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0617" y="635770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B6C71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479" rIns="0" bIns="0" rtlCol="0">
            <a:spAutoFit/>
          </a:bodyPr>
          <a:lstStyle/>
          <a:p>
            <a:pPr marL="74866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05" dirty="0"/>
              <a:t> </a:t>
            </a:r>
            <a:r>
              <a:rPr dirty="0"/>
              <a:t>Review</a:t>
            </a:r>
            <a:r>
              <a:rPr spc="-105" dirty="0"/>
              <a:t> </a:t>
            </a:r>
            <a:r>
              <a:rPr dirty="0"/>
              <a:t>(Existing</a:t>
            </a:r>
            <a:r>
              <a:rPr spc="-105" dirty="0"/>
              <a:t> </a:t>
            </a:r>
            <a:r>
              <a:rPr spc="-10" dirty="0"/>
              <a:t>methods):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285559"/>
              </p:ext>
            </p:extLst>
          </p:nvPr>
        </p:nvGraphicFramePr>
        <p:xfrm>
          <a:off x="755650" y="1917648"/>
          <a:ext cx="10064749" cy="3515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7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9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5609">
                <a:tc>
                  <a:txBody>
                    <a:bodyPr/>
                    <a:lstStyle/>
                    <a:p>
                      <a:pPr marL="254635" marR="24701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Year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22B2F"/>
                    </a:solidFill>
                  </a:tcPr>
                </a:tc>
                <a:tc>
                  <a:txBody>
                    <a:bodyPr/>
                    <a:lstStyle/>
                    <a:p>
                      <a:pPr marL="5594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lang="en-IN" sz="1400" b="0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594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22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537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22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8318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sz="1400" b="1" spc="2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Achievements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1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Limitations/Gap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22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Japan Case Study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IoT + AI pumps/sluice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 accuracy, faster pump response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Costly, limited scalability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4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K. Haripriya et al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+ IoT (RF, CNN, SVM,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LoRaWAN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92%, alerts in 4.2s, 38% cost cut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Simulation-based, high setup cost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S. Veerappan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IoT + LSTM (Raspberry Pi)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92.4% accuracy, &lt;300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latency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Small pilot, memory limits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4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U.K. Sharma &amp; A. Maurya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ML in drainage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ML benefits (LSTM, RL best)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experiments, deployment gap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4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P. S. Thanigaivelu et al.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IoT + AdaBoost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2–3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early warning, reduced flooding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Pilot only, weak for complex floods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C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599" y="319501"/>
            <a:ext cx="6228089" cy="449754"/>
          </a:xfrm>
          <a:prstGeom prst="rect">
            <a:avLst/>
          </a:prstGeom>
        </p:spPr>
        <p:txBody>
          <a:bodyPr vert="horz" wrap="square" lIns="0" tIns="796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Comparative Analysis </a:t>
            </a:r>
            <a:r>
              <a:rPr spc="-10" dirty="0"/>
              <a:t>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21BA2E-3EC2-16EC-232D-E4BE54306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494252"/>
              </p:ext>
            </p:extLst>
          </p:nvPr>
        </p:nvGraphicFramePr>
        <p:xfrm>
          <a:off x="838200" y="1371600"/>
          <a:ext cx="9677400" cy="4419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2852342884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4071242226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3214264295"/>
                    </a:ext>
                  </a:extLst>
                </a:gridCol>
              </a:tblGrid>
              <a:tr h="387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 Research Works</a:t>
                      </a: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</a:t>
                      </a:r>
                    </a:p>
                  </a:txBody>
                  <a:tcPr marL="32325" marR="32325" marT="16163" marB="16163" anchor="ctr"/>
                </a:tc>
                <a:extLst>
                  <a:ext uri="{0D108BD9-81ED-4DB2-BD59-A6C34878D82A}">
                    <a16:rowId xmlns:a16="http://schemas.microsoft.com/office/drawing/2014/main" val="3002014821"/>
                  </a:ext>
                </a:extLst>
              </a:tr>
              <a:tr h="48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Area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on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rainfall prediction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 risk mapping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Comprehensive: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rainfall + drainage monitoring + preventive actions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5" marR="32325" marT="16163" marB="16163" anchor="ctr"/>
                </a:tc>
                <a:extLst>
                  <a:ext uri="{0D108BD9-81ED-4DB2-BD59-A6C34878D82A}">
                    <a16:rowId xmlns:a16="http://schemas.microsoft.com/office/drawing/2014/main" val="450997023"/>
                  </a:ext>
                </a:extLst>
              </a:tr>
              <a:tr h="703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Rainfall data, satellite images, GIS maps</a:t>
                      </a: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Rainfall + IoT drain sensors (water level, flow rate) + historical waterlogging records</a:t>
                      </a:r>
                    </a:p>
                  </a:txBody>
                  <a:tcPr marL="32325" marR="32325" marT="16163" marB="16163" anchor="ctr"/>
                </a:tc>
                <a:extLst>
                  <a:ext uri="{0D108BD9-81ED-4DB2-BD59-A6C34878D82A}">
                    <a16:rowId xmlns:a16="http://schemas.microsoft.com/office/drawing/2014/main" val="3654242599"/>
                  </a:ext>
                </a:extLst>
              </a:tr>
              <a:tr h="48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Used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models (Regression, Random Forest, LSTM), GIS mapping</a:t>
                      </a: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 (LSTM, anomaly detection) + IoT integration + Cloud-based dashboard</a:t>
                      </a:r>
                    </a:p>
                  </a:txBody>
                  <a:tcPr marL="32325" marR="32325" marT="16163" marB="16163" anchor="ctr"/>
                </a:tc>
                <a:extLst>
                  <a:ext uri="{0D108BD9-81ED-4DB2-BD59-A6C34878D82A}">
                    <a16:rowId xmlns:a16="http://schemas.microsoft.com/office/drawing/2014/main" val="4247510594"/>
                  </a:ext>
                </a:extLst>
              </a:tr>
              <a:tr h="48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Monitoring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absent or limited to rainfall</a:t>
                      </a: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real-time monitoring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drainage and rainfall</a:t>
                      </a:r>
                    </a:p>
                  </a:txBody>
                  <a:tcPr marL="32325" marR="32325" marT="16163" marB="16163" anchor="ctr"/>
                </a:tc>
                <a:extLst>
                  <a:ext uri="{0D108BD9-81ED-4DB2-BD59-A6C34878D82A}">
                    <a16:rowId xmlns:a16="http://schemas.microsoft.com/office/drawing/2014/main" val="3746021781"/>
                  </a:ext>
                </a:extLst>
              </a:tr>
              <a:tr h="703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Output/Results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maps, alerts, or prediction graphs</a:t>
                      </a: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Actionable insights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waterlogging risk alerts, early warnings, and maintenance recommendations</a:t>
                      </a:r>
                    </a:p>
                  </a:txBody>
                  <a:tcPr marL="32325" marR="32325" marT="16163" marB="16163" anchor="ctr"/>
                </a:tc>
                <a:extLst>
                  <a:ext uri="{0D108BD9-81ED-4DB2-BD59-A6C34878D82A}">
                    <a16:rowId xmlns:a16="http://schemas.microsoft.com/office/drawing/2014/main" val="3156098672"/>
                  </a:ext>
                </a:extLst>
              </a:tr>
              <a:tr h="48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in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pilot areas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case studies</a:t>
                      </a: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as a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scalable smart city solution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cost-effective deployment</a:t>
                      </a:r>
                    </a:p>
                  </a:txBody>
                  <a:tcPr marL="32325" marR="32325" marT="16163" marB="16163" anchor="ctr"/>
                </a:tc>
                <a:extLst>
                  <a:ext uri="{0D108BD9-81ED-4DB2-BD59-A6C34878D82A}">
                    <a16:rowId xmlns:a16="http://schemas.microsoft.com/office/drawing/2014/main" val="3083878886"/>
                  </a:ext>
                </a:extLst>
              </a:tr>
              <a:tr h="703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infra cost, no preventive maintenance link, reactive approach</a:t>
                      </a:r>
                    </a:p>
                  </a:txBody>
                  <a:tcPr marL="32325" marR="32325" marT="16163" marB="161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Bridges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&amp; prevention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focuses on affordable and adaptive solutions</a:t>
                      </a:r>
                    </a:p>
                  </a:txBody>
                  <a:tcPr marL="32325" marR="32325" marT="16163" marB="16163" anchor="ctr"/>
                </a:tc>
                <a:extLst>
                  <a:ext uri="{0D108BD9-81ED-4DB2-BD59-A6C34878D82A}">
                    <a16:rowId xmlns:a16="http://schemas.microsoft.com/office/drawing/2014/main" val="9738257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599" y="228600"/>
            <a:ext cx="6228089" cy="584154"/>
          </a:xfrm>
          <a:prstGeom prst="rect">
            <a:avLst/>
          </a:prstGeom>
        </p:spPr>
        <p:txBody>
          <a:bodyPr vert="horz" wrap="square" lIns="0" tIns="21274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Proposed Methodology :</a:t>
            </a:r>
            <a:endParaRPr spc="-1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75D0A6-D9C2-6E70-E779-685CB802647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1371600"/>
            <a:ext cx="935779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1)Data Collection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Historical rainfall &amp; flood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IoT sensors (water level, flow, rainfall)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2)Data Processing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&amp; feature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GIS maps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3)AI/ML Modeling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/ ML models for rainfall–runoff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models for waterlogging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4)Decision Engine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warnings &amp; alerts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Preventive maintenance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5)Dashboard &amp; Alerts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SMS/Email/Push notifications to authorities &amp; citizens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6)Deployment &amp; Feedback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Pilot testing in selected urban areas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 with new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30BF9-99B5-9DD4-A605-2FC0D120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4813F2-A853-920F-38E0-0589FF6698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8599" y="228600"/>
            <a:ext cx="6228089" cy="584154"/>
          </a:xfrm>
          <a:prstGeom prst="rect">
            <a:avLst/>
          </a:prstGeom>
        </p:spPr>
        <p:txBody>
          <a:bodyPr vert="horz" wrap="square" lIns="0" tIns="21274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Block Diagram: </a:t>
            </a:r>
            <a:endParaRPr spc="-1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9BE7C0-6132-8E9A-F92A-EC3E9F5D6F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295400"/>
            <a:ext cx="9525000" cy="479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18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E33C0-C32C-395D-5ABC-D8E085D1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89515F-2D49-27BD-35F5-518854F65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8599" y="319501"/>
            <a:ext cx="6228089" cy="584154"/>
          </a:xfrm>
          <a:prstGeom prst="rect">
            <a:avLst/>
          </a:prstGeom>
        </p:spPr>
        <p:txBody>
          <a:bodyPr vert="horz" wrap="square" lIns="0" tIns="21274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Motivation :</a:t>
            </a:r>
            <a:endParaRPr spc="-1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FA1B5CD-6FC3-5B2F-8AC4-183BF858924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8599" y="1752600"/>
            <a:ext cx="100584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Increasing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flooding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due to climate change &amp; unplanned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solutions focus only on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rainfall prediction / flood maps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limited real-time 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Drainage systems today are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reactive, not preventive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+ IoT can enable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&amp; early warnings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bridges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prevention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city resilience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777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8854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DA67388-D229-840D-940D-8854674CA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99" y="1600200"/>
            <a:ext cx="105537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Sharma, R., &amp; Gupta, A. (2022).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IoT-based water level monitoring system for urban flood prevention.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Smart Infrastructure, 10(3), 45–52.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Li, Y., &amp; Wang, J. (2023).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Rainfall-runoff prediction using deep learning models in urban drainage systems.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Journal of Hydrology, 617, 128912.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Patel, K., Deshmukh, S., &amp; Rao, M. (2024).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and GIS integration for flood risk mapping in Indian smart cities.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Sustainable Water Management, 12(2), 77–86.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Government of India, Ministry of Housing &amp; Urban Affairs. (2023).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Cities Mission: Urban Flood Management Report.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World Bank. (2021).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Climate Resilient Urban Flood Management Practices.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95657" y="5168898"/>
            <a:ext cx="2196465" cy="1689100"/>
            <a:chOff x="9995657" y="5168898"/>
            <a:chExt cx="2196465" cy="1689100"/>
          </a:xfrm>
        </p:grpSpPr>
        <p:sp>
          <p:nvSpPr>
            <p:cNvPr id="3" name="object 3"/>
            <p:cNvSpPr/>
            <p:nvPr/>
          </p:nvSpPr>
          <p:spPr>
            <a:xfrm>
              <a:off x="10748476" y="5168898"/>
              <a:ext cx="1443990" cy="1689100"/>
            </a:xfrm>
            <a:custGeom>
              <a:avLst/>
              <a:gdLst/>
              <a:ahLst/>
              <a:cxnLst/>
              <a:rect l="l" t="t" r="r" b="b"/>
              <a:pathLst>
                <a:path w="1443990" h="1689100">
                  <a:moveTo>
                    <a:pt x="1443524" y="1689102"/>
                  </a:moveTo>
                  <a:lnTo>
                    <a:pt x="0" y="1689102"/>
                  </a:lnTo>
                  <a:lnTo>
                    <a:pt x="12570" y="1654097"/>
                  </a:lnTo>
                  <a:lnTo>
                    <a:pt x="31461" y="1607247"/>
                  </a:lnTo>
                  <a:lnTo>
                    <a:pt x="51042" y="1560754"/>
                  </a:lnTo>
                  <a:lnTo>
                    <a:pt x="71306" y="1514625"/>
                  </a:lnTo>
                  <a:lnTo>
                    <a:pt x="92248" y="1468865"/>
                  </a:lnTo>
                  <a:lnTo>
                    <a:pt x="113861" y="1423481"/>
                  </a:lnTo>
                  <a:lnTo>
                    <a:pt x="136138" y="1378480"/>
                  </a:lnTo>
                  <a:lnTo>
                    <a:pt x="159074" y="1333868"/>
                  </a:lnTo>
                  <a:lnTo>
                    <a:pt x="182662" y="1289651"/>
                  </a:lnTo>
                  <a:lnTo>
                    <a:pt x="206895" y="1245836"/>
                  </a:lnTo>
                  <a:lnTo>
                    <a:pt x="231768" y="1202429"/>
                  </a:lnTo>
                  <a:lnTo>
                    <a:pt x="257273" y="1159435"/>
                  </a:lnTo>
                  <a:lnTo>
                    <a:pt x="283405" y="1116863"/>
                  </a:lnTo>
                  <a:lnTo>
                    <a:pt x="310157" y="1074718"/>
                  </a:lnTo>
                  <a:lnTo>
                    <a:pt x="337523" y="1033005"/>
                  </a:lnTo>
                  <a:lnTo>
                    <a:pt x="365497" y="991733"/>
                  </a:lnTo>
                  <a:lnTo>
                    <a:pt x="394071" y="950907"/>
                  </a:lnTo>
                  <a:lnTo>
                    <a:pt x="423240" y="910533"/>
                  </a:lnTo>
                  <a:lnTo>
                    <a:pt x="452998" y="870618"/>
                  </a:lnTo>
                  <a:lnTo>
                    <a:pt x="483337" y="831168"/>
                  </a:lnTo>
                  <a:lnTo>
                    <a:pt x="514253" y="792189"/>
                  </a:lnTo>
                  <a:lnTo>
                    <a:pt x="545737" y="753689"/>
                  </a:lnTo>
                  <a:lnTo>
                    <a:pt x="577785" y="715672"/>
                  </a:lnTo>
                  <a:lnTo>
                    <a:pt x="610389" y="678146"/>
                  </a:lnTo>
                  <a:lnTo>
                    <a:pt x="643544" y="641117"/>
                  </a:lnTo>
                  <a:lnTo>
                    <a:pt x="677242" y="604591"/>
                  </a:lnTo>
                  <a:lnTo>
                    <a:pt x="711478" y="568575"/>
                  </a:lnTo>
                  <a:lnTo>
                    <a:pt x="746245" y="533075"/>
                  </a:lnTo>
                  <a:lnTo>
                    <a:pt x="781537" y="498097"/>
                  </a:lnTo>
                  <a:lnTo>
                    <a:pt x="817348" y="463648"/>
                  </a:lnTo>
                  <a:lnTo>
                    <a:pt x="853671" y="429734"/>
                  </a:lnTo>
                  <a:lnTo>
                    <a:pt x="890499" y="396361"/>
                  </a:lnTo>
                  <a:lnTo>
                    <a:pt x="927827" y="363536"/>
                  </a:lnTo>
                  <a:lnTo>
                    <a:pt x="965648" y="331265"/>
                  </a:lnTo>
                  <a:lnTo>
                    <a:pt x="1003956" y="299554"/>
                  </a:lnTo>
                  <a:lnTo>
                    <a:pt x="1042744" y="268410"/>
                  </a:lnTo>
                  <a:lnTo>
                    <a:pt x="1082006" y="237840"/>
                  </a:lnTo>
                  <a:lnTo>
                    <a:pt x="1121736" y="207848"/>
                  </a:lnTo>
                  <a:lnTo>
                    <a:pt x="1161927" y="178443"/>
                  </a:lnTo>
                  <a:lnTo>
                    <a:pt x="1202573" y="149630"/>
                  </a:lnTo>
                  <a:lnTo>
                    <a:pt x="1243668" y="121415"/>
                  </a:lnTo>
                  <a:lnTo>
                    <a:pt x="1443523" y="0"/>
                  </a:lnTo>
                  <a:lnTo>
                    <a:pt x="1443524" y="1689102"/>
                  </a:lnTo>
                  <a:close/>
                </a:path>
              </a:pathLst>
            </a:custGeom>
            <a:solidFill>
              <a:srgbClr val="B22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95657" y="6458111"/>
              <a:ext cx="739679" cy="18097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22315" y="2006565"/>
            <a:ext cx="43465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latin typeface="Arial"/>
                <a:cs typeface="Arial"/>
              </a:rPr>
              <a:t>Thank</a:t>
            </a:r>
            <a:r>
              <a:rPr sz="7200" b="0" spc="-140" dirty="0">
                <a:latin typeface="Arial"/>
                <a:cs typeface="Arial"/>
              </a:rPr>
              <a:t> </a:t>
            </a:r>
            <a:r>
              <a:rPr sz="7200" b="0" spc="-635" dirty="0">
                <a:latin typeface="Arial"/>
                <a:cs typeface="Arial"/>
              </a:rPr>
              <a:t>Y</a:t>
            </a:r>
            <a:r>
              <a:rPr sz="7200" b="0" spc="25" dirty="0">
                <a:latin typeface="Arial"/>
                <a:cs typeface="Arial"/>
              </a:rPr>
              <a:t>ou</a:t>
            </a:r>
            <a:endParaRPr sz="7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0881" y="6420120"/>
            <a:ext cx="16230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B6C71"/>
                </a:solidFill>
                <a:latin typeface="Arial"/>
                <a:cs typeface="Arial"/>
              </a:rPr>
              <a:t>engg.dypvp.edu.in</a:t>
            </a:r>
            <a:r>
              <a:rPr sz="1400" spc="300" dirty="0">
                <a:solidFill>
                  <a:srgbClr val="6B6C71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B6C71"/>
                </a:solidFill>
                <a:latin typeface="Arial"/>
                <a:cs typeface="Arial"/>
              </a:rPr>
              <a:t>|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1229360" cy="6858000"/>
            <a:chOff x="0" y="0"/>
            <a:chExt cx="1229360" cy="6858000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30225" cy="6858000"/>
            </a:xfrm>
            <a:custGeom>
              <a:avLst/>
              <a:gdLst/>
              <a:ahLst/>
              <a:cxnLst/>
              <a:rect l="l" t="t" r="r" b="b"/>
              <a:pathLst>
                <a:path w="530225" h="6858000">
                  <a:moveTo>
                    <a:pt x="529607" y="0"/>
                  </a:moveTo>
                  <a:lnTo>
                    <a:pt x="529607" y="6857999"/>
                  </a:lnTo>
                  <a:lnTo>
                    <a:pt x="0" y="6857999"/>
                  </a:lnTo>
                  <a:lnTo>
                    <a:pt x="0" y="0"/>
                  </a:lnTo>
                  <a:lnTo>
                    <a:pt x="529607" y="0"/>
                  </a:lnTo>
                  <a:close/>
                </a:path>
              </a:pathLst>
            </a:custGeom>
            <a:solidFill>
              <a:srgbClr val="B22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9607" y="0"/>
              <a:ext cx="699770" cy="6858000"/>
            </a:xfrm>
            <a:custGeom>
              <a:avLst/>
              <a:gdLst/>
              <a:ahLst/>
              <a:cxnLst/>
              <a:rect l="l" t="t" r="r" b="b"/>
              <a:pathLst>
                <a:path w="699769" h="6858000">
                  <a:moveTo>
                    <a:pt x="0" y="0"/>
                  </a:moveTo>
                  <a:lnTo>
                    <a:pt x="699289" y="0"/>
                  </a:lnTo>
                  <a:lnTo>
                    <a:pt x="69928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A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972</Words>
  <Application>Microsoft Office PowerPoint</Application>
  <PresentationFormat>Widescreen</PresentationFormat>
  <Paragraphs>134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Department of Artificial Intelligence and Data Science </vt:lpstr>
      <vt:lpstr>Introduction to the Problem Domain</vt:lpstr>
      <vt:lpstr>Problem statement</vt:lpstr>
      <vt:lpstr>Aim &amp; Objectives:</vt:lpstr>
      <vt:lpstr>Literature Review (Existing methods):</vt:lpstr>
      <vt:lpstr>Comparative Analysis :</vt:lpstr>
      <vt:lpstr>Proposed Methodology :</vt:lpstr>
      <vt:lpstr>Block Diagram: </vt:lpstr>
      <vt:lpstr>Motivation :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BE_Review-1 Template PPT.pptx</dc:title>
  <cp:lastModifiedBy>Tushar Chavhan AIDS</cp:lastModifiedBy>
  <cp:revision>4</cp:revision>
  <dcterms:created xsi:type="dcterms:W3CDTF">2025-08-29T18:00:06Z</dcterms:created>
  <dcterms:modified xsi:type="dcterms:W3CDTF">2025-08-30T03:53:30Z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2025-08-29T00:00:00Z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2025-08-29T00:00:00Z</vt:filetime>
  </property>
</Properties>
</file>